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6459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6459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EC7FF"/>
                </a:solidFill>
                <a:latin typeface="Microsoft YaHe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 err="1">
                <a:solidFill>
                  <a:srgbClr val="FFFFFF"/>
                </a:solidFill>
                <a:latin typeface="Microsoft YaHei"/>
              </a:rPr>
              <a:t>文献分享</a:t>
            </a:r>
            <a:endParaRPr sz="4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Microsoft YaHei"/>
              </a:rPr>
              <a:t>图像生成模型前沿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65836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扩散、自回归+扩散</a:t>
            </a:r>
            <a:r>
              <a:rPr lang="zh-CN" altLang="en-US" sz="2000" b="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sz="2000" b="0" dirty="0" err="1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纯自回归</a:t>
            </a:r>
            <a:r>
              <a:rPr lang="zh-CN" altLang="en-US" sz="2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</a:t>
            </a:r>
            <a:r>
              <a:rPr sz="2000" b="0" dirty="0" err="1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sz="2000" b="0" dirty="0">
              <a:solidFill>
                <a:srgbClr val="5A65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37760" y="3931920"/>
            <a:ext cx="155448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扩散模型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931920"/>
            <a:ext cx="1554480" cy="45720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自回归+扩散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931920"/>
            <a:ext cx="1554480" cy="457200"/>
          </a:xfrm>
          <a:prstGeom prst="round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纯自回归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937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577"/>
                </a:solidFill>
                <a:latin typeface="Microsoft YaHei"/>
              </a:rPr>
              <a:t>涵盖 11 个代表性模型 · 三大技术路线对比分析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126480"/>
            <a:ext cx="6400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0" dirty="0">
                <a:solidFill>
                  <a:srgbClr val="5A6577"/>
                </a:solidFill>
                <a:latin typeface="Microsoft YaHei"/>
              </a:rPr>
              <a:t>竺星回</a:t>
            </a:r>
            <a:r>
              <a:rPr lang="zh-CN" altLang="en-US" sz="1200" dirty="0">
                <a:solidFill>
                  <a:srgbClr val="5A6577"/>
                </a:solidFill>
                <a:latin typeface="Microsoft YaHei"/>
              </a:rPr>
              <a:t>分享</a:t>
            </a:r>
            <a:r>
              <a:rPr lang="en-US" altLang="zh-CN" sz="1200" dirty="0">
                <a:solidFill>
                  <a:srgbClr val="5A6577"/>
                </a:solidFill>
                <a:latin typeface="Microsoft YaHei"/>
              </a:rPr>
              <a:t>-2026.7.14</a:t>
            </a:r>
            <a:endParaRPr sz="1200" b="0" dirty="0">
              <a:solidFill>
                <a:srgbClr val="5A6577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577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1672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19656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6479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基于扩散的模型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0370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FLUX.1 / FLUX.2 · HiDream-O1 · Seedream 4.0 · Z-Image · Ideogram 4.0 · Boogu-Image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1091672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3026664"/>
            <a:ext cx="640080" cy="640080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718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基于自回归 + 扩散的模型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41071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HunyuanImage-3 · SenseNova-U1 · GLM-Image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14216"/>
            <a:ext cx="11091672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4233672"/>
            <a:ext cx="640080" cy="64008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7880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纯自回归模型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177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GPT-Image · Nano Banana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21224"/>
            <a:ext cx="11091672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544068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385816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总结与趋势分析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82472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架构演进 · 关键技术趋势 · 未来方向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FDCFF"/>
                </a:solidFill>
                <a:latin typeface="Microsoft YaHei"/>
              </a:rPr>
              <a:t>PART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基于扩散的模型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FDCFF"/>
                </a:solidFill>
                <a:latin typeface="Microsoft YaHei"/>
              </a:rPr>
              <a:t>Diffusion-Based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CF2FF"/>
                </a:solidFill>
                <a:latin typeface="Microsoft YaHei"/>
              </a:rPr>
              <a:t>FLUX.1 / FLUX.2 · HiDream-O1 · Seedream 4.0 · Z-Image · Ideogram 4.0 · Boogu-Image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FLUX.1 / FLUX.2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57441"/>
            <a:ext cx="1661068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Microsoft YaHei"/>
              </a:rPr>
              <a:t>双流</a:t>
            </a:r>
            <a:r>
              <a:rPr sz="1200" b="1" dirty="0">
                <a:solidFill>
                  <a:srgbClr val="FFFFFF"/>
                </a:solidFill>
                <a:latin typeface="Microsoft YaHei"/>
              </a:rPr>
              <a:t> vs </a:t>
            </a:r>
            <a:r>
              <a:rPr sz="1200" b="1" dirty="0" err="1">
                <a:solidFill>
                  <a:srgbClr val="FFFFFF"/>
                </a:solidFill>
                <a:latin typeface="Microsoft YaHei"/>
              </a:rPr>
              <a:t>单流演进</a:t>
            </a:r>
            <a:endParaRPr sz="1200" b="1" dirty="0">
              <a:solidFill>
                <a:srgbClr val="FFFFFF"/>
              </a:solidFill>
              <a:latin typeface="Microsoft YaHei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DCB9626-5D1F-68A5-EC3C-49CFF9EE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63815"/>
            <a:ext cx="4235448" cy="478690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1508760"/>
            <a:ext cx="1097280" cy="868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主干网络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1508760"/>
            <a:ext cx="28346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0">
                <a:solidFill>
                  <a:srgbClr val="1F2A44"/>
                </a:solidFill>
                <a:latin typeface="Microsoft YaHei"/>
              </a:rPr>
              <a:t>FLUX.1: 标准流匹配/扩散Transformer · FLUX.2: 视觉语言模型+整流流Transformer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450592"/>
            <a:ext cx="1097280" cy="868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文本编码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2450592"/>
            <a:ext cx="28346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0">
                <a:solidFill>
                  <a:srgbClr val="1F2A44"/>
                </a:solidFill>
                <a:latin typeface="Microsoft YaHei"/>
              </a:rPr>
              <a:t>FLUX.2 结合 Mistral-3 24B 视觉语言模型，摒弃 CLIP、T5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92424"/>
            <a:ext cx="1097280" cy="868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VAE维度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3392424"/>
            <a:ext cx="28346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0">
                <a:solidFill>
                  <a:srgbClr val="1F2A44"/>
                </a:solidFill>
                <a:latin typeface="Microsoft YaHei"/>
              </a:rPr>
              <a:t>FLUX.1: 比SD-VAE大4倍 → FLUX.2: 大8倍（降低压缩率）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6"/>
            <a:ext cx="1097280" cy="868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核心变化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4334256"/>
            <a:ext cx="28346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0">
                <a:solidFill>
                  <a:srgbClr val="1F2A44"/>
                </a:solidFill>
                <a:latin typeface="Microsoft YaHei"/>
              </a:rPr>
              <a:t>FLUX.2 引入多模态理解能力，统一文本与视觉条件编码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7240" y="152210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核心要点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87240" y="1842142"/>
            <a:ext cx="3017520" cy="640080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0">
                <a:solidFill>
                  <a:srgbClr val="1F2A44"/>
                </a:solidFill>
                <a:latin typeface="Microsoft YaHei"/>
              </a:rPr>
              <a:t>统一生成与编辑：FLUX.2 整合到单一架构</a:t>
            </a:r>
          </a:p>
        </p:txBody>
      </p:sp>
      <p:sp>
        <p:nvSpPr>
          <p:cNvPr id="37" name="Oval 36"/>
          <p:cNvSpPr/>
          <p:nvPr/>
        </p:nvSpPr>
        <p:spPr>
          <a:xfrm>
            <a:off x="4678680" y="1951870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87240" y="2573661"/>
            <a:ext cx="3017520" cy="640080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0">
                <a:solidFill>
                  <a:srgbClr val="1F2A44"/>
                </a:solidFill>
                <a:latin typeface="Microsoft YaHei"/>
              </a:rPr>
              <a:t>损失函数：Flow Matching（流匹配）</a:t>
            </a:r>
          </a:p>
        </p:txBody>
      </p:sp>
      <p:sp>
        <p:nvSpPr>
          <p:cNvPr id="39" name="Oval 38"/>
          <p:cNvSpPr/>
          <p:nvPr/>
        </p:nvSpPr>
        <p:spPr>
          <a:xfrm>
            <a:off x="4678680" y="2683389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87240" y="3305180"/>
            <a:ext cx="3017520" cy="640080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0">
                <a:solidFill>
                  <a:srgbClr val="1F2A44"/>
                </a:solidFill>
                <a:latin typeface="Microsoft YaHei"/>
              </a:rPr>
              <a:t>摒弃 CLIP/T5，视觉语言模型统一编码</a:t>
            </a:r>
          </a:p>
        </p:txBody>
      </p:sp>
      <p:sp>
        <p:nvSpPr>
          <p:cNvPr id="41" name="Oval 40"/>
          <p:cNvSpPr/>
          <p:nvPr/>
        </p:nvSpPr>
        <p:spPr>
          <a:xfrm>
            <a:off x="4678680" y="3414908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91168" y="656084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dirty="0">
                <a:solidFill>
                  <a:srgbClr val="5A6577"/>
                </a:solidFill>
                <a:latin typeface="Microsoft YaHei"/>
              </a:rPr>
              <a:t>FLUX.1 </a:t>
            </a:r>
            <a:r>
              <a:rPr sz="900" b="0" dirty="0" err="1">
                <a:solidFill>
                  <a:srgbClr val="5A6577"/>
                </a:solidFill>
                <a:latin typeface="Microsoft YaHei"/>
              </a:rPr>
              <a:t>双流</a:t>
            </a:r>
            <a:r>
              <a:rPr sz="900" b="0" dirty="0">
                <a:solidFill>
                  <a:srgbClr val="5A6577"/>
                </a:solidFill>
                <a:latin typeface="Microsoft YaHei"/>
              </a:rPr>
              <a:t> </a:t>
            </a:r>
            <a:r>
              <a:rPr sz="900" b="0" dirty="0" err="1">
                <a:solidFill>
                  <a:srgbClr val="5A6577"/>
                </a:solidFill>
                <a:latin typeface="Microsoft YaHei"/>
              </a:rPr>
              <a:t>DiT</a:t>
            </a:r>
            <a:r>
              <a:rPr sz="900" b="0" dirty="0">
                <a:solidFill>
                  <a:srgbClr val="5A6577"/>
                </a:solidFill>
                <a:latin typeface="Microsoft YaHei"/>
              </a:rPr>
              <a:t> </a:t>
            </a:r>
            <a:r>
              <a:rPr sz="900" b="0" dirty="0" err="1">
                <a:solidFill>
                  <a:srgbClr val="5A6577"/>
                </a:solidFill>
                <a:latin typeface="Microsoft YaHei"/>
              </a:rPr>
              <a:t>架构</a:t>
            </a:r>
            <a:endParaRPr sz="900" b="0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HiDream-O1-Image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991" y="102046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5A6577"/>
                </a:solidFill>
                <a:latin typeface="Microsoft YaHei"/>
              </a:rPr>
              <a:t>统一多模态标记化</a:t>
            </a:r>
            <a:r>
              <a:rPr sz="1200" b="1" dirty="0">
                <a:solidFill>
                  <a:srgbClr val="5A6577"/>
                </a:solidFill>
                <a:latin typeface="Microsoft YaHei"/>
              </a:rPr>
              <a:t> · </a:t>
            </a:r>
            <a:r>
              <a:rPr sz="1200" b="1" dirty="0" err="1">
                <a:solidFill>
                  <a:srgbClr val="5A6577"/>
                </a:solidFill>
                <a:latin typeface="Microsoft YaHei"/>
              </a:rPr>
              <a:t>混合统一注意力</a:t>
            </a:r>
            <a:endParaRPr sz="1200" b="1" dirty="0">
              <a:solidFill>
                <a:srgbClr val="5A6577"/>
              </a:solidFill>
              <a:latin typeface="Microsoft YaHei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B424A63-A727-6FBA-324E-5A3190B5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026" y="1879270"/>
            <a:ext cx="6269581" cy="439552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37619" y="1868297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89179" y="1868297"/>
            <a:ext cx="409651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Decoder-only Transformer（UiT 骨干网络）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619" y="2453512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标记化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89179" y="2453512"/>
            <a:ext cx="409651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 dirty="0" err="1">
                <a:solidFill>
                  <a:srgbClr val="1F2A44"/>
                </a:solidFill>
                <a:latin typeface="Microsoft YaHei"/>
              </a:rPr>
              <a:t>像素</a:t>
            </a:r>
            <a:r>
              <a:rPr sz="900" b="1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sz="900" b="1" dirty="0" err="1">
                <a:solidFill>
                  <a:srgbClr val="1F2A44"/>
                </a:solidFill>
                <a:latin typeface="Microsoft YaHei"/>
              </a:rPr>
              <a:t>文本</a:t>
            </a:r>
            <a:r>
              <a:rPr sz="900" b="1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sz="900" b="1" dirty="0" err="1">
                <a:solidFill>
                  <a:srgbClr val="1F2A44"/>
                </a:solidFill>
                <a:latin typeface="Microsoft YaHei"/>
              </a:rPr>
              <a:t>任务条件映射到共享标记空间</a:t>
            </a:r>
            <a:r>
              <a:rPr sz="900" b="1" dirty="0">
                <a:solidFill>
                  <a:srgbClr val="1F2A44"/>
                </a:solidFill>
                <a:latin typeface="Microsoft YaHei"/>
              </a:rPr>
              <a:t>, SigLip2+投影映射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619" y="3038727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注意力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89179" y="3038727"/>
            <a:ext cx="409651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 dirty="0" err="1">
                <a:solidFill>
                  <a:srgbClr val="1F2A44"/>
                </a:solidFill>
                <a:latin typeface="Microsoft YaHei"/>
              </a:rPr>
              <a:t>混合统一注意力：条件+文本因果掩码，生成token全注意力</a:t>
            </a:r>
            <a:endParaRPr sz="900" b="1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7619" y="3623942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损失函数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89179" y="3623942"/>
            <a:ext cx="409651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扩散损失（噪声预测）+ 感知对齐损失（像素感知）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619" y="4238182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核心要点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619" y="4558222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消除传统模块化架构依赖</a:t>
            </a:r>
          </a:p>
        </p:txBody>
      </p:sp>
      <p:sp>
        <p:nvSpPr>
          <p:cNvPr id="43" name="Oval 42"/>
          <p:cNvSpPr/>
          <p:nvPr/>
        </p:nvSpPr>
        <p:spPr>
          <a:xfrm>
            <a:off x="529059" y="4649662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4" name="Rounded Rectangle 43"/>
          <p:cNvSpPr/>
          <p:nvPr/>
        </p:nvSpPr>
        <p:spPr>
          <a:xfrm>
            <a:off x="437619" y="5161725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生成tokens关注所有tokens，全局上下文聚合</a:t>
            </a:r>
          </a:p>
        </p:txBody>
      </p:sp>
      <p:sp>
        <p:nvSpPr>
          <p:cNvPr id="45" name="Oval 44"/>
          <p:cNvSpPr/>
          <p:nvPr/>
        </p:nvSpPr>
        <p:spPr>
          <a:xfrm>
            <a:off x="529059" y="5253165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6" name="Rounded Rectangle 45"/>
          <p:cNvSpPr/>
          <p:nvPr/>
        </p:nvSpPr>
        <p:spPr>
          <a:xfrm>
            <a:off x="437619" y="5765228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扩散损失 + 感知对齐损失联合优化</a:t>
            </a:r>
          </a:p>
        </p:txBody>
      </p:sp>
      <p:sp>
        <p:nvSpPr>
          <p:cNvPr id="47" name="Oval 46"/>
          <p:cNvSpPr/>
          <p:nvPr/>
        </p:nvSpPr>
        <p:spPr>
          <a:xfrm>
            <a:off x="529059" y="5856668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9" name="TextBox 48"/>
          <p:cNvSpPr txBox="1"/>
          <p:nvPr/>
        </p:nvSpPr>
        <p:spPr>
          <a:xfrm>
            <a:off x="8414057" y="6390778"/>
            <a:ext cx="189779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5A6577"/>
                </a:solidFill>
                <a:latin typeface="Microsoft YaHei"/>
              </a:rPr>
              <a:t>HiDream-O1 </a:t>
            </a:r>
            <a:r>
              <a:rPr sz="900" b="1" dirty="0" err="1">
                <a:solidFill>
                  <a:srgbClr val="5A6577"/>
                </a:solidFill>
                <a:latin typeface="Microsoft YaHei"/>
              </a:rPr>
              <a:t>模型架构</a:t>
            </a:r>
            <a:endParaRPr sz="9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1" name="Rectangle 50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2" name="Rounded Rectangle 51"/>
          <p:cNvSpPr/>
          <p:nvPr/>
        </p:nvSpPr>
        <p:spPr>
          <a:xfrm>
            <a:off x="437619" y="1390157"/>
            <a:ext cx="1645920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YaHei"/>
              </a:rPr>
              <a:t>Decoder-only Transformer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Seedream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174" y="893434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A6577"/>
                </a:solidFill>
                <a:latin typeface="Microsoft YaHei"/>
              </a:rPr>
              <a:t>统一多模态图像生成系统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14A99EB-3577-6C61-27EA-51C19018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8963"/>
            <a:ext cx="5966966" cy="461857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74" y="1608963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1734" y="1608963"/>
            <a:ext cx="4357255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基于扩散 DiT-Transformer 架构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0174" y="2194178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统一能力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41734" y="2194178"/>
            <a:ext cx="4357255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文生图 + 图像编辑 + 多图合成，统一到单一模型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174" y="2779393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文本编码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41734" y="2779393"/>
            <a:ext cx="4357255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自研双语大语言模型（LLM）作为文本编码器核心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0174" y="3364608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文字渲染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41734" y="3364608"/>
            <a:ext cx="4357255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 dirty="0">
                <a:solidFill>
                  <a:srgbClr val="1F2A44"/>
                </a:solidFill>
                <a:latin typeface="Microsoft YaHei"/>
              </a:rPr>
              <a:t>Glyph-Aligned ByT5 </a:t>
            </a:r>
            <a:r>
              <a:rPr sz="900" b="1" dirty="0" err="1">
                <a:solidFill>
                  <a:srgbClr val="1F2A44"/>
                </a:solidFill>
                <a:latin typeface="Microsoft YaHei"/>
              </a:rPr>
              <a:t>编码器，支持双语文字渲染</a:t>
            </a:r>
            <a:endParaRPr sz="900" b="1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6220" y="4167451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核心要点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220" y="4487491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三大核心能力统一：文生图、编辑、多图合成</a:t>
            </a:r>
          </a:p>
        </p:txBody>
      </p:sp>
      <p:sp>
        <p:nvSpPr>
          <p:cNvPr id="35" name="Oval 34"/>
          <p:cNvSpPr/>
          <p:nvPr/>
        </p:nvSpPr>
        <p:spPr>
          <a:xfrm>
            <a:off x="907660" y="4578931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6" name="Rounded Rectangle 35"/>
          <p:cNvSpPr/>
          <p:nvPr/>
        </p:nvSpPr>
        <p:spPr>
          <a:xfrm>
            <a:off x="816220" y="5090994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自研双语 LLM 作为文本编码器</a:t>
            </a:r>
          </a:p>
        </p:txBody>
      </p:sp>
      <p:sp>
        <p:nvSpPr>
          <p:cNvPr id="37" name="Oval 36"/>
          <p:cNvSpPr/>
          <p:nvPr/>
        </p:nvSpPr>
        <p:spPr>
          <a:xfrm>
            <a:off x="907660" y="518243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8" name="Rounded Rectangle 37"/>
          <p:cNvSpPr/>
          <p:nvPr/>
        </p:nvSpPr>
        <p:spPr>
          <a:xfrm>
            <a:off x="816220" y="5694497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Glyph-Aligned ByT5 增强文字渲染</a:t>
            </a:r>
          </a:p>
        </p:txBody>
      </p:sp>
      <p:sp>
        <p:nvSpPr>
          <p:cNvPr id="39" name="Oval 38"/>
          <p:cNvSpPr/>
          <p:nvPr/>
        </p:nvSpPr>
        <p:spPr>
          <a:xfrm>
            <a:off x="907660" y="5785937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TextBox 40"/>
          <p:cNvSpPr txBox="1"/>
          <p:nvPr/>
        </p:nvSpPr>
        <p:spPr>
          <a:xfrm>
            <a:off x="8020857" y="6298877"/>
            <a:ext cx="262940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 err="1">
                <a:solidFill>
                  <a:srgbClr val="5A6577"/>
                </a:solidFill>
                <a:latin typeface="Microsoft YaHei"/>
              </a:rPr>
              <a:t>Seedream</a:t>
            </a:r>
            <a:r>
              <a:rPr sz="900" b="1" dirty="0">
                <a:solidFill>
                  <a:srgbClr val="5A6577"/>
                </a:solidFill>
                <a:latin typeface="Microsoft YaHei"/>
              </a:rPr>
              <a:t> 4.0 </a:t>
            </a:r>
            <a:r>
              <a:rPr sz="900" b="1" dirty="0" err="1">
                <a:solidFill>
                  <a:srgbClr val="5A6577"/>
                </a:solidFill>
                <a:latin typeface="Microsoft YaHei"/>
              </a:rPr>
              <a:t>模型架构</a:t>
            </a:r>
            <a:endParaRPr sz="9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3" name="Rectangle 42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4" name="Rounded Rectangle 43"/>
          <p:cNvSpPr/>
          <p:nvPr/>
        </p:nvSpPr>
        <p:spPr>
          <a:xfrm>
            <a:off x="490174" y="1207008"/>
            <a:ext cx="1645920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扩散 DiT-Transformer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Z-Image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9828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5A6577"/>
                </a:solidFill>
                <a:latin typeface="Microsoft YaHei"/>
              </a:rPr>
              <a:t>阿里通义MAI团队</a:t>
            </a:r>
            <a:r>
              <a:rPr sz="1200" b="1" dirty="0">
                <a:solidFill>
                  <a:srgbClr val="5A6577"/>
                </a:solidFill>
                <a:latin typeface="Microsoft YaHei"/>
              </a:rPr>
              <a:t> · </a:t>
            </a:r>
            <a:r>
              <a:rPr sz="1200" b="1" dirty="0" err="1">
                <a:solidFill>
                  <a:srgbClr val="5A6577"/>
                </a:solidFill>
                <a:latin typeface="Microsoft YaHei"/>
              </a:rPr>
              <a:t>单流架构解决跨模态对齐</a:t>
            </a:r>
            <a:endParaRPr sz="12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5684" y="1303019"/>
            <a:ext cx="1541734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icrosoft YaHei"/>
              </a:rPr>
              <a:t>单流</a:t>
            </a:r>
            <a:r>
              <a:rPr sz="1000" b="1" dirty="0">
                <a:solidFill>
                  <a:srgbClr val="FFFFFF"/>
                </a:solidFill>
                <a:latin typeface="Microsoft YaHei"/>
              </a:rPr>
              <a:t> S3-DiT · 6B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1171C52-3D0D-AFE9-0F75-4113918F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476" y="1764607"/>
            <a:ext cx="6094364" cy="415003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8640" y="1743551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文本编码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1743551"/>
            <a:ext cx="436727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轻量化 Qwen3-4B 作为文本编码器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328766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图像VAE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2328766"/>
            <a:ext cx="436727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FLUX.1 VAE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913981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编辑编码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2913981"/>
            <a:ext cx="436727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SigLIP 2 多模态编码器（提取抽象视觉语义）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99196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主干网络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3499196"/>
            <a:ext cx="436727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S3-DiT 单流 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404" y="4186429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核心要点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404" y="4506469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 dirty="0" err="1">
                <a:solidFill>
                  <a:srgbClr val="1F2A44"/>
                </a:solidFill>
                <a:latin typeface="Microsoft YaHei"/>
              </a:rPr>
              <a:t>文本</a:t>
            </a:r>
            <a:r>
              <a:rPr sz="1000" b="1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sz="1000" b="1" dirty="0" err="1">
                <a:solidFill>
                  <a:srgbClr val="1F2A44"/>
                </a:solidFill>
                <a:latin typeface="Microsoft YaHei"/>
              </a:rPr>
              <a:t>图像</a:t>
            </a:r>
            <a:r>
              <a:rPr sz="1000" b="1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sz="1000" b="1" dirty="0" err="1">
                <a:solidFill>
                  <a:srgbClr val="1F2A44"/>
                </a:solidFill>
                <a:latin typeface="Microsoft YaHei"/>
              </a:rPr>
              <a:t>语义Tokens序列维度直接拼接</a:t>
            </a:r>
            <a:endParaRPr sz="1000" b="1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910844" y="4597909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9" name="Rounded Rectangle 38"/>
          <p:cNvSpPr/>
          <p:nvPr/>
        </p:nvSpPr>
        <p:spPr>
          <a:xfrm>
            <a:off x="819404" y="5109972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SigLIP 2 保证主体身份保留，避免变脸</a:t>
            </a:r>
          </a:p>
        </p:txBody>
      </p:sp>
      <p:sp>
        <p:nvSpPr>
          <p:cNvPr id="40" name="Oval 39"/>
          <p:cNvSpPr/>
          <p:nvPr/>
        </p:nvSpPr>
        <p:spPr>
          <a:xfrm>
            <a:off x="910844" y="5201412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Rounded Rectangle 40"/>
          <p:cNvSpPr/>
          <p:nvPr/>
        </p:nvSpPr>
        <p:spPr>
          <a:xfrm>
            <a:off x="819404" y="5713475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6B 参数量，轻量高效</a:t>
            </a:r>
          </a:p>
        </p:txBody>
      </p:sp>
      <p:sp>
        <p:nvSpPr>
          <p:cNvPr id="42" name="Oval 41"/>
          <p:cNvSpPr/>
          <p:nvPr/>
        </p:nvSpPr>
        <p:spPr>
          <a:xfrm>
            <a:off x="910844" y="5804915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4" name="TextBox 43"/>
          <p:cNvSpPr txBox="1"/>
          <p:nvPr/>
        </p:nvSpPr>
        <p:spPr>
          <a:xfrm>
            <a:off x="6668654" y="6145048"/>
            <a:ext cx="481214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5A6577"/>
                </a:solidFill>
                <a:latin typeface="Microsoft YaHei"/>
              </a:rPr>
              <a:t>Z-Image S3-DiT 架构：模态预处理后文本、图像、语义Tokens序列维度直接拼接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Ideogram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38784"/>
            <a:ext cx="2434705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Flow-Matching · 可控设计生成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AB6EEB9-D24F-A9EA-9527-16C1C4BA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936" y="3659245"/>
            <a:ext cx="8338127" cy="303736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8640" y="1325881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1325881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Flow-Matching 文生图模型 · 单流 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911096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文本编码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1911096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Qwen3-VL-8B-Instruct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496311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交互方式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2496311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文本token与图像latent token同一注意力空间交互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081526"/>
            <a:ext cx="1051560" cy="5303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特色能力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3081526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结构化JSON Prompt · 文字渲染 · 空间布局/颜色控制 · 原生2K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325881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核心要点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645921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可控设计生成：结构化 JSON Prompt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1737361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9" name="Rounded Rectangle 38"/>
          <p:cNvSpPr/>
          <p:nvPr/>
        </p:nvSpPr>
        <p:spPr>
          <a:xfrm>
            <a:off x="6492240" y="2249424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更强的图中文字渲染能力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234086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Rounded Rectangle 40"/>
          <p:cNvSpPr/>
          <p:nvPr/>
        </p:nvSpPr>
        <p:spPr>
          <a:xfrm>
            <a:off x="6492240" y="2852927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原生 2K 分辨率与灵活长宽比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944367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4" name="TextBox 43"/>
          <p:cNvSpPr txBox="1"/>
          <p:nvPr/>
        </p:nvSpPr>
        <p:spPr>
          <a:xfrm>
            <a:off x="307062" y="6627365"/>
            <a:ext cx="1109167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5A6577"/>
                </a:solidFill>
                <a:latin typeface="Microsoft YaHei"/>
              </a:rPr>
              <a:t>Ideogram 4.0 </a:t>
            </a:r>
            <a:r>
              <a:rPr sz="900" b="1" dirty="0" err="1">
                <a:solidFill>
                  <a:srgbClr val="5A6577"/>
                </a:solidFill>
                <a:latin typeface="Microsoft YaHei"/>
              </a:rPr>
              <a:t>架构流程</a:t>
            </a:r>
            <a:endParaRPr sz="900" b="1" dirty="0">
              <a:solidFill>
                <a:srgbClr val="5A6577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F2A44"/>
                </a:solidFill>
                <a:latin typeface="Microsoft YaHei"/>
              </a:rPr>
              <a:t>Boogu</a:t>
            </a:r>
            <a:r>
              <a:rPr sz="2400" b="1" dirty="0">
                <a:solidFill>
                  <a:srgbClr val="1F2A44"/>
                </a:solidFill>
                <a:latin typeface="Microsoft YaHei"/>
              </a:rPr>
              <a:t>-Image</a:t>
            </a:r>
            <a:r>
              <a:rPr lang="en-US" sz="2400" b="1" dirty="0">
                <a:solidFill>
                  <a:srgbClr val="1F2A44"/>
                </a:solidFill>
                <a:latin typeface="Microsoft YaHei"/>
              </a:rPr>
              <a:t>-------</a:t>
            </a:r>
            <a:r>
              <a:rPr lang="zh-CN" altLang="en-US" sz="2400" b="1" dirty="0">
                <a:solidFill>
                  <a:srgbClr val="1F2A44"/>
                </a:solidFill>
                <a:latin typeface="Microsoft YaHei"/>
              </a:rPr>
              <a:t>尚未发布技术报告，根据模型文件猜测</a:t>
            </a:r>
            <a:endParaRPr sz="2400" b="1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25713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5A6577"/>
                </a:solidFill>
                <a:latin typeface="Microsoft YaHei"/>
              </a:rPr>
              <a:t>FlowMatch</a:t>
            </a:r>
            <a:r>
              <a:rPr sz="1200" b="1" dirty="0">
                <a:solidFill>
                  <a:srgbClr val="5A6577"/>
                </a:solidFill>
                <a:latin typeface="Microsoft YaHei"/>
              </a:rPr>
              <a:t> · </a:t>
            </a:r>
            <a:r>
              <a:rPr sz="1200" b="1" dirty="0" err="1">
                <a:solidFill>
                  <a:srgbClr val="5A6577"/>
                </a:solidFill>
                <a:latin typeface="Microsoft YaHei"/>
              </a:rPr>
              <a:t>指令遵循能力提升</a:t>
            </a:r>
            <a:endParaRPr sz="12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5513" y="1655064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ounded Rectangle 5"/>
          <p:cNvSpPr/>
          <p:nvPr/>
        </p:nvSpPr>
        <p:spPr>
          <a:xfrm>
            <a:off x="548639" y="1408176"/>
            <a:ext cx="1288473" cy="310896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icrosoft YaHei"/>
              </a:rPr>
              <a:t>统一理解与生成</a:t>
            </a:r>
            <a:endParaRPr sz="11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5513" y="1911096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Qwen3VLProcessor → DiT → VAE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513" y="1911096"/>
            <a:ext cx="1371600" cy="7498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处理流程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513" y="2734056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Qwen3VLProcessor 对文本和图像进行特征提取，生成条件嵌入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513" y="2734056"/>
            <a:ext cx="1371600" cy="7498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特征提取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5513" y="3557016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Flow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513" y="3557016"/>
            <a:ext cx="1371600" cy="7498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扩散模型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513" y="4379976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统一理解与生成系统，提升指令遵循能力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513" y="4379976"/>
            <a:ext cx="1371600" cy="7498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953" y="1865376"/>
            <a:ext cx="5303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</a:rPr>
              <a:t>核心要点 / Key Highlights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1953" y="2276856"/>
            <a:ext cx="5285232" cy="813816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使用 Qwen3VLProcessor 统一处理文本与图像输入</a:t>
            </a:r>
          </a:p>
        </p:txBody>
      </p:sp>
      <p:sp>
        <p:nvSpPr>
          <p:cNvPr id="17" name="Oval 16"/>
          <p:cNvSpPr/>
          <p:nvPr/>
        </p:nvSpPr>
        <p:spPr>
          <a:xfrm>
            <a:off x="6409113" y="2404872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ounded Rectangle 17"/>
          <p:cNvSpPr/>
          <p:nvPr/>
        </p:nvSpPr>
        <p:spPr>
          <a:xfrm>
            <a:off x="6271953" y="3200400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Flow Matching 作为扩散训练目标</a:t>
            </a:r>
          </a:p>
        </p:txBody>
      </p:sp>
      <p:sp>
        <p:nvSpPr>
          <p:cNvPr id="19" name="Oval 18"/>
          <p:cNvSpPr/>
          <p:nvPr/>
        </p:nvSpPr>
        <p:spPr>
          <a:xfrm>
            <a:off x="6409113" y="3328416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0" name="Rounded Rectangle 19"/>
          <p:cNvSpPr/>
          <p:nvPr/>
        </p:nvSpPr>
        <p:spPr>
          <a:xfrm>
            <a:off x="6271953" y="3922776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 b="1">
                <a:solidFill>
                  <a:srgbClr val="1F2A44"/>
                </a:solidFill>
                <a:latin typeface="Microsoft YaHei"/>
              </a:rPr>
              <a:t>统一理解与生成，增强指令遵循</a:t>
            </a:r>
          </a:p>
        </p:txBody>
      </p:sp>
      <p:sp>
        <p:nvSpPr>
          <p:cNvPr id="21" name="Oval 20"/>
          <p:cNvSpPr/>
          <p:nvPr/>
        </p:nvSpPr>
        <p:spPr>
          <a:xfrm>
            <a:off x="6409113" y="4050792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5A6577"/>
                </a:solidFill>
                <a:latin typeface="Microsoft YaHe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扩散模型小结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577"/>
                </a:solidFill>
                <a:latin typeface="Microsoft YaHei"/>
              </a:rPr>
              <a:t>Part 1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Microsoft YaHei"/>
              </a:rPr>
              <a:t>共性趋势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普遍摒弃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CLIP、T5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等传统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text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encoder，转而采用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Qwen3-VL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等视觉语言模型</a:t>
            </a:r>
            <a:endParaRPr sz="1500"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普遍采用单流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DiT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整合所有信息：文本、图像、语义</a:t>
            </a:r>
            <a:r>
              <a:rPr sz="1500" b="0" dirty="0">
                <a:solidFill>
                  <a:srgbClr val="1F2A44"/>
                </a:solidFill>
                <a:latin typeface="Microsoft YaHei"/>
              </a:rPr>
              <a:t> Tokens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在序列维度直接拼接</a:t>
            </a:r>
            <a:endParaRPr sz="1500"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单流架构减少信息交叉损失，提升跨模态对齐效率</a:t>
            </a:r>
            <a:endParaRPr sz="1500"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sz="1500" b="0" dirty="0" err="1">
                <a:solidFill>
                  <a:srgbClr val="1F2A44"/>
                </a:solidFill>
                <a:latin typeface="Microsoft YaHei"/>
              </a:rPr>
              <a:t>统一多任务能力：生成、编辑、理解整合到单一架构</a:t>
            </a:r>
            <a:endParaRPr sz="1500" b="0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091672" cy="164592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Microsoft YaHei"/>
              </a:rPr>
              <a:t>关键洞察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Microsoft YaHei"/>
              </a:rPr>
              <a:t>从「双流架构 + 独立编码器」走向「单流 DiT + 多模态大模型统一编码」，是当前扩散类图像生成模型的共同演进方向。信息在序列维度直接拼接，最大化参数复用与跨模态对齐，减少信息交叉损失。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FDCFF"/>
                </a:solidFill>
                <a:latin typeface="Microsoft YaHei"/>
              </a:rPr>
              <a:t>PART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基于自回归 + 扩散的模型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FDCFF"/>
                </a:solidFill>
                <a:latin typeface="Microsoft YaHei"/>
              </a:rPr>
              <a:t>Autoregressive + Diffusion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CF2FF"/>
                </a:solidFill>
                <a:latin typeface="Microsoft YaHei"/>
              </a:rPr>
              <a:t>HunyuanImage-3 · SenseNova-U1 · GLM-Image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420624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HunyuanImage-3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92123"/>
            <a:ext cx="1386702" cy="310896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1000" b="1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Microsoft YaHei"/>
              </a:rPr>
              <a:t>混合架构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93DD6F2-AE11-C51A-3A42-7C8C89F1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76" y="3749037"/>
            <a:ext cx="8728025" cy="286445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48640" y="146304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骨干模型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146304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基于 Hunyuan-A13B（MoE，总参数 &gt;80B）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04825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输入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204825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文本tokens + 视觉条件 + 生成tokens + 步长嵌入，统一序列+广义因果注意力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3347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输出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263347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预测干净图像patches → 重组；2D RoPE自动分辨率控制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1868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损失函数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00200" y="321868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预训练: 自回归+扩散 · 后训练: SFT/DPO/MixGRPO/ReDA · 蒸馏: MeanFlow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1463040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Microsoft YaHei"/>
              </a:rPr>
              <a:t>核心要点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783080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自回归损失 + 扩散损失多任务联合优化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187452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Rounded Rectangle 40"/>
          <p:cNvSpPr/>
          <p:nvPr/>
        </p:nvSpPr>
        <p:spPr>
          <a:xfrm>
            <a:off x="6492240" y="2386583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后训练：偏好优化(DPO)、强化学习(MixGRPO/SRPO)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478023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3" name="Rounded Rectangle 42"/>
          <p:cNvSpPr/>
          <p:nvPr/>
        </p:nvSpPr>
        <p:spPr>
          <a:xfrm>
            <a:off x="6492240" y="2990086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蒸馏/剪枝：轨迹分布对齐的 MeanFlow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0" y="3081526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6" name="TextBox 45"/>
          <p:cNvSpPr txBox="1"/>
          <p:nvPr/>
        </p:nvSpPr>
        <p:spPr>
          <a:xfrm>
            <a:off x="456275" y="6656832"/>
            <a:ext cx="1109167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5A6577"/>
                </a:solidFill>
                <a:latin typeface="Microsoft YaHei"/>
              </a:rPr>
              <a:t>HunyuanImage-3 架构：图像理解、语言建模、图像生成三分支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792" y="27432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F2A44"/>
                </a:solidFill>
                <a:latin typeface="Microsoft YaHei"/>
              </a:rPr>
              <a:t>SenseNova-U1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29024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A6577"/>
                </a:solidFill>
                <a:latin typeface="Microsoft YaHei"/>
              </a:rPr>
              <a:t>直接处理原始像素与文本，无需预训练 VE 或 VAE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4877"/>
            <a:ext cx="1391735" cy="310896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icrosoft YaHei"/>
              </a:rPr>
              <a:t>无VAE</a:t>
            </a:r>
            <a:r>
              <a:rPr sz="1000" b="1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sz="1000" b="1" dirty="0" err="1">
                <a:solidFill>
                  <a:srgbClr val="FFFFFF"/>
                </a:solidFill>
                <a:latin typeface="Microsoft YaHei"/>
              </a:rPr>
              <a:t>原生像素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158D01F-8D4E-6309-184A-49B41114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867912"/>
            <a:ext cx="4106169" cy="265176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B258C26D-23E1-E3AB-7E7E-2686DB021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29" y="3858864"/>
            <a:ext cx="7239604" cy="26517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48640" y="146304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输入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146304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原生像素与文本；图像经Patch编码层转视觉token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04825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VAE替代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204825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两层卷积编码替代VAE encoder；类MLP解码替代VAE decoder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3347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输出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263347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理解: 线性投影头输出文本；生成: MLP头预测像素块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1868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损失函数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00200" y="321868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自回归下一token预测损失 + Flow Matching 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1463040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Microsoft YaHei"/>
              </a:rPr>
              <a:t>核心要点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783080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彻底摒弃 VAE：原生像素直接处理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187452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1" name="Rounded Rectangle 40"/>
          <p:cNvSpPr/>
          <p:nvPr/>
        </p:nvSpPr>
        <p:spPr>
          <a:xfrm>
            <a:off x="6492240" y="2386583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两层卷积编码 + 类 MLP 解码，轻量替代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478023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3" name="Rounded Rectangle 42"/>
          <p:cNvSpPr/>
          <p:nvPr/>
        </p:nvSpPr>
        <p:spPr>
          <a:xfrm>
            <a:off x="6492240" y="2990086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理解与生成任务共用同一骨干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0" y="3081526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6" name="TextBox 45"/>
          <p:cNvSpPr txBox="1"/>
          <p:nvPr/>
        </p:nvSpPr>
        <p:spPr>
          <a:xfrm>
            <a:off x="456809" y="6554311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5A6577"/>
                </a:solidFill>
                <a:latin typeface="Microsoft YaHei"/>
              </a:rPr>
              <a:t>SenseNova-U1 Encoder-Model-Decoder </a:t>
            </a:r>
            <a:r>
              <a:rPr sz="900" b="1" dirty="0" err="1">
                <a:solidFill>
                  <a:srgbClr val="5A6577"/>
                </a:solidFill>
                <a:latin typeface="Microsoft YaHei"/>
              </a:rPr>
              <a:t>结构</a:t>
            </a:r>
            <a:endParaRPr sz="9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57126" y="6581833"/>
            <a:ext cx="651967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 err="1">
                <a:solidFill>
                  <a:srgbClr val="5A6577"/>
                </a:solidFill>
                <a:latin typeface="Microsoft YaHei"/>
              </a:rPr>
              <a:t>三种架构对比（Sequential</a:t>
            </a:r>
            <a:r>
              <a:rPr sz="900" b="1" dirty="0">
                <a:solidFill>
                  <a:srgbClr val="5A6577"/>
                </a:solidFill>
                <a:latin typeface="Microsoft YaHei"/>
              </a:rPr>
              <a:t> / Parallel / Parallel Native）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44572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F2A44"/>
                </a:solidFill>
                <a:latin typeface="Microsoft YaHei"/>
              </a:rPr>
              <a:t>GLM-Image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" y="784311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5A6577"/>
                </a:solidFill>
                <a:latin typeface="Microsoft YaHei"/>
              </a:rPr>
              <a:t>自回归生成全局语义</a:t>
            </a:r>
            <a:r>
              <a:rPr sz="1200" b="1" dirty="0">
                <a:solidFill>
                  <a:srgbClr val="5A6577"/>
                </a:solidFill>
                <a:latin typeface="Microsoft YaHei"/>
              </a:rPr>
              <a:t> + </a:t>
            </a:r>
            <a:r>
              <a:rPr sz="1200" b="1" dirty="0" err="1">
                <a:solidFill>
                  <a:srgbClr val="5A6577"/>
                </a:solidFill>
                <a:latin typeface="Microsoft YaHei"/>
              </a:rPr>
              <a:t>扩散解码高频细节</a:t>
            </a:r>
            <a:endParaRPr sz="1200" b="1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5961" y="1106422"/>
            <a:ext cx="2381966" cy="310896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icrosoft YaHei"/>
              </a:rPr>
              <a:t>语义视觉量化</a:t>
            </a:r>
            <a:r>
              <a:rPr sz="1000" b="1" dirty="0">
                <a:solidFill>
                  <a:srgbClr val="FFFFFF"/>
                </a:solidFill>
                <a:latin typeface="Microsoft YaHei"/>
              </a:rPr>
              <a:t> Semantic-VQ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A398521-2CBD-A359-C2B4-5B238F48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11" y="3867915"/>
            <a:ext cx="10512528" cy="25603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146304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自回归部分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00200" y="146304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GLM-4-9B-0414 初始化（90亿参数），输出 Semantic-VQ 标记序列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04825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扩散解码器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0200" y="204825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CogView4 单流 DiT（70亿参数），输出1024–2048px高保真图像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633470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核心目标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" y="2633470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自回归保证语义对齐，扩散还原高频细节与画质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18685"/>
            <a:ext cx="1051560" cy="530352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文字渲染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0200" y="3218685"/>
            <a:ext cx="46177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900" b="1">
                <a:solidFill>
                  <a:srgbClr val="1F2A44"/>
                </a:solidFill>
                <a:latin typeface="Microsoft YaHei"/>
              </a:rPr>
              <a:t>通过 Glyph-by-T5 嵌入增强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463040"/>
            <a:ext cx="514807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Microsoft YaHei"/>
              </a:rPr>
              <a:t>核心要点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1783080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Semantic-VQ 替代 VAE，输出可解释的语义蓝图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187452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8" name="Rounded Rectangle 37"/>
          <p:cNvSpPr/>
          <p:nvPr/>
        </p:nvSpPr>
        <p:spPr>
          <a:xfrm>
            <a:off x="6492240" y="2386583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自回归与扩散顺序执行、功能解耦、不交叉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2478023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0" name="Rounded Rectangle 39"/>
          <p:cNvSpPr/>
          <p:nvPr/>
        </p:nvSpPr>
        <p:spPr>
          <a:xfrm>
            <a:off x="6492240" y="2990086"/>
            <a:ext cx="5148072" cy="530352"/>
          </a:xfrm>
          <a:prstGeom prst="roundRect">
            <a:avLst/>
          </a:prstGeom>
          <a:solidFill>
            <a:srgbClr val="F0F5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0" bIns="0" rtlCol="0" anchor="ctr"/>
          <a:lstStyle/>
          <a:p>
            <a:pPr algn="l"/>
            <a:r>
              <a:rPr sz="1000" b="1">
                <a:solidFill>
                  <a:srgbClr val="1F2A44"/>
                </a:solidFill>
                <a:latin typeface="Microsoft YaHei"/>
              </a:rPr>
              <a:t>图生图：参考图像 Semantic-VQ 标记化 + VAE编码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0" y="3081526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3" name="TextBox 42"/>
          <p:cNvSpPr txBox="1"/>
          <p:nvPr/>
        </p:nvSpPr>
        <p:spPr>
          <a:xfrm>
            <a:off x="489204" y="6583680"/>
            <a:ext cx="1109167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5A6577"/>
                </a:solidFill>
                <a:latin typeface="Microsoft YaHei"/>
              </a:rPr>
              <a:t>GLM-Image 架构：条件输入 → 自回归生成 Semantic-VQ → 扩散解码器生成图像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自回归+扩散模型小结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577"/>
                </a:solidFill>
                <a:latin typeface="Microsoft YaHei"/>
              </a:rPr>
              <a:t>Part 2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B1FA2"/>
                </a:solidFill>
                <a:latin typeface="Microsoft YaHei"/>
              </a:rPr>
              <a:t>架构共性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49892"/>
            <a:ext cx="10515600" cy="210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b="0" dirty="0">
                <a:solidFill>
                  <a:srgbClr val="1F2A44"/>
                </a:solidFill>
                <a:latin typeface="Microsoft YaHei"/>
              </a:rPr>
              <a:t>• 「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分工协作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」：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自回归负责语义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布局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全局结构，扩散负责高频细节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/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画质还原</a:t>
            </a:r>
            <a:endParaRPr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b="0" dirty="0">
                <a:solidFill>
                  <a:srgbClr val="1F2A44"/>
                </a:solidFill>
                <a:latin typeface="Microsoft YaHei"/>
              </a:rPr>
              <a:t>• HunyuanImage-3：MoE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大模型统一序列，自回归+扩散损失联合优化，后训练强化学习丰富</a:t>
            </a:r>
            <a:endParaRPr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b="0" dirty="0">
                <a:solidFill>
                  <a:srgbClr val="1F2A44"/>
                </a:solidFill>
                <a:latin typeface="Microsoft YaHei"/>
              </a:rPr>
              <a:t>• SenseNova-U1：最激进——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完全抛弃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VAE，原生像素直接处理，卷积+MLP替代编解码</a:t>
            </a:r>
            <a:endParaRPr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GLM-Image：Semantic-VQ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语义标记作为桥梁，自回归与扩散顺序执行、功能解耦</a:t>
            </a:r>
            <a:endParaRPr b="0" dirty="0">
              <a:solidFill>
                <a:srgbClr val="1F2A44"/>
              </a:solidFill>
              <a:latin typeface="Microsoft YaHe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b="0" dirty="0">
                <a:solidFill>
                  <a:srgbClr val="1F2A44"/>
                </a:solidFill>
                <a:latin typeface="Microsoft YaHei"/>
              </a:rPr>
              <a:t>•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共同点：利用</a:t>
            </a:r>
            <a:r>
              <a:rPr b="0" dirty="0">
                <a:solidFill>
                  <a:srgbClr val="1F2A44"/>
                </a:solidFill>
                <a:latin typeface="Microsoft YaHei"/>
              </a:rPr>
              <a:t> LLM </a:t>
            </a:r>
            <a:r>
              <a:rPr b="0" dirty="0" err="1">
                <a:solidFill>
                  <a:srgbClr val="1F2A44"/>
                </a:solidFill>
                <a:latin typeface="Microsoft YaHei"/>
              </a:rPr>
              <a:t>的语义理解能力保证全局准确性，扩散补足生成质量</a:t>
            </a:r>
            <a:endParaRPr b="0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FDCFF"/>
                </a:solidFill>
                <a:latin typeface="Microsoft YaHei"/>
              </a:rPr>
              <a:t>PART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纯自回归模型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FDCFF"/>
                </a:solidFill>
                <a:latin typeface="Microsoft YaHei"/>
              </a:rPr>
              <a:t>Pure Autoregressive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CF2FF"/>
                </a:solidFill>
                <a:latin typeface="Microsoft YaHei"/>
              </a:rPr>
              <a:t>GPT-Image · Nano Banana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GPT-Image / Nano Banana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7311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5A6577"/>
                </a:solidFill>
                <a:latin typeface="Microsoft YaHei"/>
              </a:rPr>
              <a:t>继承</a:t>
            </a:r>
            <a:r>
              <a:rPr sz="1200" b="0" dirty="0">
                <a:solidFill>
                  <a:srgbClr val="5A6577"/>
                </a:solidFill>
                <a:latin typeface="Microsoft YaHei"/>
              </a:rPr>
              <a:t> LLM </a:t>
            </a:r>
            <a:r>
              <a:rPr sz="1200" b="0" dirty="0" err="1">
                <a:solidFill>
                  <a:srgbClr val="5A6577"/>
                </a:solidFill>
                <a:latin typeface="Microsoft YaHei"/>
              </a:rPr>
              <a:t>的逻辑推理与排版能力</a:t>
            </a:r>
            <a:endParaRPr sz="1200" b="0" dirty="0">
              <a:solidFill>
                <a:srgbClr val="5A6577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179" y="1842839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650" y="1568519"/>
            <a:ext cx="1359129" cy="310896"/>
          </a:xfrm>
          <a:prstGeom prst="round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纯自回归生图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179" y="2098871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生图模型继承 LLM 强大的逻辑推理、长文本对齐、精准排版布局能力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179" y="2098871"/>
            <a:ext cx="1371600" cy="74980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核心思想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179" y="2921831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纯自回归 next-token prediction，图像 token 化后纳入语言建模框架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179" y="2921831"/>
            <a:ext cx="1371600" cy="74980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技术路线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179" y="3744791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需要非常强大的基座模型作为支撑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179" y="3744791"/>
            <a:ext cx="1371600" cy="74980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关键依赖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179" y="4567751"/>
            <a:ext cx="54864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GPT-Image · Nano Banana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179" y="4567751"/>
            <a:ext cx="1371600" cy="74980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代表模型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3239" y="1733111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710A"/>
                </a:solidFill>
                <a:latin typeface="Microsoft YaHei"/>
              </a:rPr>
              <a:t>核心要点 / Key Highlights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3239" y="2144591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将图像生成统一为「下一个token预测」范式</a:t>
            </a:r>
          </a:p>
        </p:txBody>
      </p:sp>
      <p:sp>
        <p:nvSpPr>
          <p:cNvPr id="17" name="Oval 16"/>
          <p:cNvSpPr/>
          <p:nvPr/>
        </p:nvSpPr>
        <p:spPr>
          <a:xfrm>
            <a:off x="6340399" y="2272607"/>
            <a:ext cx="128016" cy="128016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3239" y="2866967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复用 LLM 已有的推理、对齐、排版能力</a:t>
            </a:r>
          </a:p>
        </p:txBody>
      </p:sp>
      <p:sp>
        <p:nvSpPr>
          <p:cNvPr id="19" name="Oval 18"/>
          <p:cNvSpPr/>
          <p:nvPr/>
        </p:nvSpPr>
        <p:spPr>
          <a:xfrm>
            <a:off x="6340399" y="2994983"/>
            <a:ext cx="128016" cy="128016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03239" y="3589343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优势：语义理解强、指令遵循好、排版精准</a:t>
            </a:r>
          </a:p>
        </p:txBody>
      </p:sp>
      <p:sp>
        <p:nvSpPr>
          <p:cNvPr id="21" name="Oval 20"/>
          <p:cNvSpPr/>
          <p:nvPr/>
        </p:nvSpPr>
        <p:spPr>
          <a:xfrm>
            <a:off x="6340399" y="3717359"/>
            <a:ext cx="128016" cy="128016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03239" y="4311719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挑战：对基座模型规模与能力要求极高</a:t>
            </a:r>
          </a:p>
        </p:txBody>
      </p:sp>
      <p:sp>
        <p:nvSpPr>
          <p:cNvPr id="23" name="Oval 22"/>
          <p:cNvSpPr/>
          <p:nvPr/>
        </p:nvSpPr>
        <p:spPr>
          <a:xfrm>
            <a:off x="6340399" y="4439735"/>
            <a:ext cx="128016" cy="128016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03239" y="5034095"/>
            <a:ext cx="5285232" cy="612648"/>
          </a:xfrm>
          <a:prstGeom prst="roundRect">
            <a:avLst/>
          </a:prstGeom>
          <a:solidFill>
            <a:srgbClr val="F0F5FF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137160" rtlCol="0" anchor="ctr"/>
          <a:lstStyle/>
          <a:p>
            <a:pPr algn="ctr"/>
            <a:r>
              <a:rPr sz="1100">
                <a:solidFill>
                  <a:srgbClr val="1F2A44"/>
                </a:solidFill>
                <a:latin typeface="Microsoft YaHei"/>
              </a:rPr>
              <a:t>代表了大模型统一一切的发展方向</a:t>
            </a:r>
          </a:p>
        </p:txBody>
      </p:sp>
      <p:sp>
        <p:nvSpPr>
          <p:cNvPr id="25" name="Oval 24"/>
          <p:cNvSpPr/>
          <p:nvPr/>
        </p:nvSpPr>
        <p:spPr>
          <a:xfrm>
            <a:off x="6340399" y="5162111"/>
            <a:ext cx="128016" cy="128016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趋势一：架构演进路线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577"/>
                </a:solidFill>
                <a:latin typeface="Microsoft YaHei"/>
              </a:rPr>
              <a:t>Trend 1 · Architecture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20440" cy="594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双流架构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Microsoft YaHei"/>
              </a:rPr>
              <a:t>文本与图像独立分支处理
仅通过交叉注意力稀疏交互
参数复用率低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</a:rPr>
              <a:t>代表：SD / FLUX.1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3200400"/>
            <a:ext cx="320040" cy="320040"/>
          </a:xfrm>
          <a:prstGeom prst="rightArrow">
            <a:avLst/>
          </a:prstGeom>
          <a:solidFill>
            <a:srgbClr val="5A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53127" y="1554480"/>
            <a:ext cx="35204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53127" y="1554480"/>
            <a:ext cx="3520440" cy="59436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单流 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3317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Microsoft YaHei"/>
              </a:rPr>
              <a:t>文本/图像/语义Tokens
序列维度直接拼接
统一注意力交互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icrosoft YaHei"/>
              </a:rPr>
              <a:t>代表：Z-Image / Ideogram 4.0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4" y="1554480"/>
            <a:ext cx="35204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57614" y="1554480"/>
            <a:ext cx="3520440" cy="59436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自回归统一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4" y="23317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Microsoft YaHei"/>
              </a:rPr>
              <a:t>LLM统一理解与生成
next-token预测范式
语义+细节分工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4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710A"/>
                </a:solidFill>
                <a:latin typeface="Microsoft YaHei"/>
              </a:rPr>
              <a:t>代表：GPT-Image / Nano Banana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18 / 19</a:t>
            </a:r>
          </a:p>
        </p:txBody>
      </p:sp>
      <p:sp>
        <p:nvSpPr>
          <p:cNvPr id="21" name="Right Arrow 9">
            <a:extLst>
              <a:ext uri="{FF2B5EF4-FFF2-40B4-BE49-F238E27FC236}">
                <a16:creationId xmlns:a16="http://schemas.microsoft.com/office/drawing/2014/main" id="{3513CCA2-1884-C8AD-DAAF-F8D28685C6D2}"/>
              </a:ext>
            </a:extLst>
          </p:cNvPr>
          <p:cNvSpPr/>
          <p:nvPr/>
        </p:nvSpPr>
        <p:spPr>
          <a:xfrm>
            <a:off x="8014714" y="3268980"/>
            <a:ext cx="320040" cy="320040"/>
          </a:xfrm>
          <a:prstGeom prst="rightArrow">
            <a:avLst/>
          </a:prstGeom>
          <a:solidFill>
            <a:srgbClr val="5A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38404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Microsoft YaHei"/>
              </a:rPr>
              <a:t>趋势二：关键技术趋势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577"/>
                </a:solidFill>
                <a:latin typeface="Microsoft YaHei"/>
              </a:rPr>
              <a:t>Trend 2 · Key Technology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9525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664208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编码器演进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CLIP/T5 → 视觉语言大模型（Qwen3-VL等）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从专用编码器走向多模态大模型统一编码，提升语义理解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7" y="146304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36007" y="1664208"/>
            <a:ext cx="146304" cy="146304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7" y="16002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VAE 演进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0299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Microsoft YaHei"/>
              </a:rPr>
              <a:t>标准VAE → 大维度VAE → Semantic-VQ → 无VAE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6974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从压缩潜空间到语义标记化，再到原生像素直接处理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4" y="146304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0494" y="1664208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69094" y="16002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任务统一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4" y="20299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</a:rPr>
              <a:t>单一生成 → 生成+编辑+理解多任务统一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4" y="26974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单一架构覆盖文生图、图像编辑、多图合成、视觉理解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4133088"/>
            <a:ext cx="146304" cy="14630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69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训练范式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9884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10A"/>
                </a:solidFill>
                <a:latin typeface="Microsoft YaHei"/>
              </a:rPr>
              <a:t>单一扩散损失 → 多阶段联合优化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扩散/自回归损失 + SFT + DPO + 强化学习(MixGRPO等)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7" y="393192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36007" y="4133088"/>
            <a:ext cx="146304" cy="14630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4069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规模依赖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449884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10A"/>
                </a:solidFill>
                <a:latin typeface="Microsoft YaHei"/>
              </a:rPr>
              <a:t>专用模型 → 强基座模型驱动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51663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MoE&gt;80B、LLM 9B+，对基座规模与能力要求日益增高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4" y="3931920"/>
            <a:ext cx="36576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40494" y="4133088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4" y="4069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信息融合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4" y="449884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交叉注意力 → 序列拼接单流交互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4" y="51663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577"/>
                </a:solidFill>
                <a:latin typeface="Microsoft YaHei"/>
              </a:rPr>
              <a:t>减少信息交叉损失，最大化跨模态对齐与参数复用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577"/>
                </a:solidFill>
                <a:latin typeface="Microsoft YaHei"/>
              </a:rPr>
              <a:t>19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EC7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图像生成模型的统一化演进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91672" cy="9144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91440" cy="914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Microsoft YaHei"/>
              </a:rPr>
              <a:t>编码统一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Microsoft YaHei"/>
              </a:rPr>
              <a:t>从 CLIP/T5 专用编码器 → Qwen3-VL 等多模态大模型统一编码，语义理解能力大幅提升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18688"/>
            <a:ext cx="11091672" cy="9144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218688"/>
            <a:ext cx="91440" cy="9144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284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8E3E"/>
                </a:solidFill>
                <a:latin typeface="Microsoft YaHei"/>
              </a:rPr>
              <a:t>架构收敛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7588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Microsoft YaHei"/>
              </a:rPr>
              <a:t>从双流交叉注意力 → 单流序列拼接；信息融合更直接，跨模态对齐更充分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42816"/>
            <a:ext cx="11091672" cy="9144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91440" cy="9144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3525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B1FA2"/>
                </a:solidFill>
                <a:latin typeface="Microsoft YaHei"/>
              </a:rPr>
              <a:t>范式融合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001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1F2A44"/>
                </a:solidFill>
                <a:latin typeface="Microsoft YaHei"/>
              </a:rPr>
              <a:t>自回归负责全局语义，扩散负责高频细节；纯自回归则是</a:t>
            </a:r>
            <a:r>
              <a:rPr sz="1200" b="0" dirty="0">
                <a:solidFill>
                  <a:srgbClr val="1F2A44"/>
                </a:solidFill>
                <a:latin typeface="Microsoft YaHei"/>
              </a:rPr>
              <a:t> LLM </a:t>
            </a:r>
            <a:r>
              <a:rPr sz="1200" b="0" dirty="0" err="1">
                <a:solidFill>
                  <a:srgbClr val="1F2A44"/>
                </a:solidFill>
                <a:latin typeface="Microsoft YaHei"/>
              </a:rPr>
              <a:t>统一一切的终极方向</a:t>
            </a:r>
            <a:endParaRPr sz="1200" b="0" dirty="0">
              <a:solidFill>
                <a:srgbClr val="1F2A44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5266944"/>
            <a:ext cx="11091672" cy="9144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5266944"/>
            <a:ext cx="91440" cy="9144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37667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710A"/>
                </a:solidFill>
                <a:latin typeface="Microsoft YaHei"/>
              </a:rPr>
              <a:t>规模驱动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24144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Microsoft YaHei"/>
              </a:rPr>
              <a:t>模型规模从专用百兆级 → MoE 80B+，强基座成为高质量生成的核心依赖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5A6577"/>
                </a:solidFill>
                <a:latin typeface="Microsoft Ya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1079</Words>
  <Application>Microsoft Office PowerPoint</Application>
  <PresentationFormat>宽屏</PresentationFormat>
  <Paragraphs>259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竺星回</cp:lastModifiedBy>
  <cp:revision>6</cp:revision>
  <dcterms:created xsi:type="dcterms:W3CDTF">2013-01-27T09:14:16Z</dcterms:created>
  <dcterms:modified xsi:type="dcterms:W3CDTF">2026-07-13T12:31:59Z</dcterms:modified>
  <cp:category/>
</cp:coreProperties>
</file>