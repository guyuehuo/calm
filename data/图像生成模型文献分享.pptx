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0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64592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2194560"/>
            <a:ext cx="164592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8EC7FF"/>
                </a:solidFill>
                <a:latin typeface="Microsoft YaHei"/>
              </a:rP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 err="1">
                <a:solidFill>
                  <a:srgbClr val="FFFFFF"/>
                </a:solidFill>
                <a:latin typeface="Microsoft YaHei"/>
              </a:rPr>
              <a:t>文献分享</a:t>
            </a:r>
            <a:endParaRPr sz="40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937760" y="210312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F2A44"/>
                </a:solidFill>
                <a:latin typeface="Microsoft YaHei"/>
              </a:rPr>
              <a:t>图像生成模型前沿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65836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 err="1">
                <a:solidFill>
                  <a:srgbClr val="5A65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扩散、自回归+扩散</a:t>
            </a:r>
            <a:r>
              <a:rPr lang="zh-CN" altLang="en-US" sz="2000" b="0" dirty="0">
                <a:solidFill>
                  <a:srgbClr val="5A65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与</a:t>
            </a:r>
            <a:r>
              <a:rPr sz="2000" b="0" dirty="0" err="1">
                <a:solidFill>
                  <a:srgbClr val="5A65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纯自回归</a:t>
            </a:r>
            <a:r>
              <a:rPr lang="zh-CN" altLang="en-US" sz="2000" dirty="0">
                <a:solidFill>
                  <a:srgbClr val="5A65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三大</a:t>
            </a:r>
            <a:r>
              <a:rPr sz="2000" b="0" dirty="0" err="1">
                <a:solidFill>
                  <a:srgbClr val="5A65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</a:t>
            </a:r>
            <a:endParaRPr sz="2000" b="0" dirty="0">
              <a:solidFill>
                <a:srgbClr val="5A65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937760" y="3931920"/>
            <a:ext cx="1554480" cy="45720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扩散模型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3931920"/>
            <a:ext cx="1554480" cy="45720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自回归+扩散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3931920"/>
            <a:ext cx="1554480" cy="45720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纯自回归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A6577"/>
                </a:solidFill>
                <a:latin typeface="Microsoft YaHei"/>
              </a:rPr>
              <a:t>涵盖 11 个代表性模型 · 三大技术路线对比分析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6126480"/>
            <a:ext cx="6400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CN" altLang="en-US" sz="1200" b="0" dirty="0">
                <a:solidFill>
                  <a:srgbClr val="5A6577"/>
                </a:solidFill>
                <a:latin typeface="Microsoft YaHei"/>
              </a:rPr>
              <a:t>竺星回</a:t>
            </a:r>
            <a:r>
              <a:rPr lang="zh-CN" altLang="en-US" sz="1200" dirty="0">
                <a:solidFill>
                  <a:srgbClr val="5A6577"/>
                </a:solidFill>
                <a:latin typeface="Microsoft YaHei"/>
              </a:rPr>
              <a:t>分享</a:t>
            </a:r>
            <a:r>
              <a:rPr lang="en-US" altLang="zh-CN" sz="1200" dirty="0">
                <a:solidFill>
                  <a:srgbClr val="5A6577"/>
                </a:solidFill>
                <a:latin typeface="Microsoft YaHei"/>
              </a:rPr>
              <a:t>-2026.7.14</a:t>
            </a:r>
            <a:endParaRPr sz="1200" b="0" dirty="0">
              <a:solidFill>
                <a:srgbClr val="5A6577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73152" cy="38404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8686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A6577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1091672" cy="9525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091672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22960" y="1819656"/>
            <a:ext cx="640080" cy="64008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764792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Microsoft YaHei"/>
              </a:rPr>
              <a:t>基于扩散的模型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20370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A6577"/>
                </a:solidFill>
                <a:latin typeface="Microsoft YaHei"/>
              </a:rPr>
              <a:t>FLUX.1 / FLUX.2 · HiDream-O1 · Seedream 4.0 · Z-Image · Ideogram 4.0 · Boogu-Image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07208"/>
            <a:ext cx="11091672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22960" y="3026664"/>
            <a:ext cx="640080" cy="640080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97180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Microsoft YaHei"/>
              </a:rPr>
              <a:t>基于自回归 + 扩散的模型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41071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A6577"/>
                </a:solidFill>
                <a:latin typeface="Microsoft YaHei"/>
              </a:rPr>
              <a:t>HunyuanImage-3 · SenseNova-U1 · GLM-Image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14216"/>
            <a:ext cx="11091672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4233672"/>
            <a:ext cx="640080" cy="640080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178808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Microsoft YaHei"/>
              </a:rPr>
              <a:t>纯自回归模型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6177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A6577"/>
                </a:solidFill>
                <a:latin typeface="Microsoft YaHei"/>
              </a:rPr>
              <a:t>GPT-Image · Nano Banana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21224"/>
            <a:ext cx="11091672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22960" y="5440680"/>
            <a:ext cx="640080" cy="640080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385816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Microsoft YaHei"/>
              </a:rPr>
              <a:t>总结与趋势分析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582472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A6577"/>
                </a:solidFill>
                <a:latin typeface="Microsoft YaHei"/>
              </a:rPr>
              <a:t>架构演进 · 关键技术趋势 · 未来方向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5A6577"/>
                </a:solidFill>
                <a:latin typeface="Microsoft YaHe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FDCFF"/>
                </a:solidFill>
                <a:latin typeface="Microsoft YaHei"/>
              </a:rPr>
              <a:t>PART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37160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</a:rPr>
              <a:t>基于扩散的模型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FDCFF"/>
                </a:solidFill>
                <a:latin typeface="Microsoft YaHei"/>
              </a:rPr>
              <a:t>Diffusion-Based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ECF2FF"/>
                </a:solidFill>
                <a:latin typeface="Microsoft YaHei"/>
              </a:rPr>
              <a:t>FLUX.1 / FLUX.2 · HiDream-O1 · Seedream 4.0 · Z-Image · Ideogram 4.0 · Boogu-Image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9808" y="420624"/>
            <a:ext cx="10058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Microsoft YaHei"/>
              </a:rPr>
              <a:t>FLUX.1 / FLUX.2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57441"/>
            <a:ext cx="1661068" cy="310896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 dirty="0" err="1">
                <a:solidFill>
                  <a:srgbClr val="FFFFFF"/>
                </a:solidFill>
                <a:latin typeface="Microsoft YaHei"/>
              </a:rPr>
              <a:t>双流</a:t>
            </a:r>
            <a:r>
              <a:rPr sz="1200" b="1" dirty="0">
                <a:solidFill>
                  <a:srgbClr val="FFFFFF"/>
                </a:solidFill>
                <a:latin typeface="Microsoft YaHei"/>
              </a:rPr>
              <a:t> vs </a:t>
            </a:r>
            <a:r>
              <a:rPr sz="1200" b="1" dirty="0" err="1">
                <a:solidFill>
                  <a:srgbClr val="FFFFFF"/>
                </a:solidFill>
                <a:latin typeface="Microsoft YaHei"/>
              </a:rPr>
              <a:t>单流演进</a:t>
            </a:r>
            <a:endParaRPr sz="1200" b="1" dirty="0">
              <a:solidFill>
                <a:srgbClr val="FFFFFF"/>
              </a:solidFill>
              <a:latin typeface="Microsoft YaHei"/>
            </a:endParaRP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CDCB9626-5D1F-68A5-EC3C-49CFF9EEC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7140" y="1258812"/>
            <a:ext cx="4496886" cy="5082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548640" y="1508760"/>
            <a:ext cx="1097280" cy="86868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主干网络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45920" y="1508760"/>
            <a:ext cx="283464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>
                <a:solidFill>
                  <a:srgbClr val="1F2A44"/>
                </a:solidFill>
                <a:latin typeface="Microsoft YaHei"/>
              </a:rPr>
              <a:t>FLUX.1: 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标准流匹配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/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扩散Transformer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 · FLUX.2: 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视觉语言模型+整流流Transformer</a:t>
            </a:r>
            <a:endParaRPr sz="9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48640" y="2450592"/>
            <a:ext cx="1097280" cy="86868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文本编码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45920" y="2450592"/>
            <a:ext cx="283464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FLUX.2 结合 Mistral-3 24B 视觉语言模型，摒弃 CLIP、T5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392424"/>
            <a:ext cx="1097280" cy="86868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VAE维度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45920" y="3392424"/>
            <a:ext cx="283464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r>
              <a:rPr sz="900" b="1" dirty="0">
                <a:solidFill>
                  <a:schemeClr val="tx1"/>
                </a:solidFill>
                <a:latin typeface="Microsoft YaHei"/>
              </a:rPr>
              <a:t>FLUX.1: 比SD-VAE大4倍 → FLUX.2: 大8倍（降低压缩率）</a:t>
            </a:r>
            <a:r>
              <a:rPr lang="en-US" sz="900" b="1" dirty="0">
                <a:solidFill>
                  <a:schemeClr val="tx1"/>
                </a:solidFill>
                <a:latin typeface="Microsoft YaHei"/>
              </a:rPr>
              <a:t>---</a:t>
            </a:r>
            <a:r>
              <a:rPr lang="zh-CN" altLang="en-US" sz="9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在可学习性、重建质量与压缩率三者间实现更优的平衡</a:t>
            </a:r>
          </a:p>
          <a:p>
            <a:pPr algn="l"/>
            <a:endParaRPr sz="900" b="1" dirty="0">
              <a:solidFill>
                <a:schemeClr val="tx1"/>
              </a:solidFill>
              <a:latin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48640" y="4334256"/>
            <a:ext cx="1097280" cy="86868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核心变化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45920" y="4334256"/>
            <a:ext cx="283464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FLUX.2 引入多模态理解能力，统一文本与视觉条件编码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2047365"/>
            <a:ext cx="1112197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rgbClr val="1A73E8"/>
                </a:solidFill>
                <a:latin typeface="Microsoft YaHei"/>
              </a:rPr>
              <a:t>核心要点</a:t>
            </a:r>
            <a:endParaRPr sz="1200" b="1" dirty="0">
              <a:solidFill>
                <a:srgbClr val="1A73E8"/>
              </a:solidFill>
              <a:latin typeface="Microsoft YaHei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579620" y="2313812"/>
            <a:ext cx="3017520" cy="77686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 dirty="0">
                <a:solidFill>
                  <a:srgbClr val="FF0000"/>
                </a:solidFill>
                <a:latin typeface="Microsoft YaHei"/>
              </a:rPr>
              <a:t>统一生成与编辑</a:t>
            </a:r>
            <a:r>
              <a:rPr sz="1000" b="1" dirty="0">
                <a:solidFill>
                  <a:srgbClr val="1F2A44"/>
                </a:solidFill>
                <a:latin typeface="Microsoft YaHei"/>
              </a:rPr>
              <a:t>：FLUX.2 </a:t>
            </a:r>
            <a:r>
              <a:rPr sz="1000" b="1" dirty="0" err="1">
                <a:solidFill>
                  <a:srgbClr val="1F2A44"/>
                </a:solidFill>
                <a:latin typeface="Microsoft YaHei"/>
              </a:rPr>
              <a:t>整合到单一架构</a:t>
            </a:r>
            <a:endParaRPr lang="en-US" sz="1000" b="1" dirty="0">
              <a:solidFill>
                <a:srgbClr val="1F2A44"/>
              </a:solidFill>
              <a:latin typeface="Microsoft YaHei"/>
            </a:endParaRPr>
          </a:p>
          <a:p>
            <a:pPr algn="l"/>
            <a:r>
              <a:rPr lang="en-US" altLang="zh-CN" sz="1000" b="1" dirty="0">
                <a:solidFill>
                  <a:srgbClr val="1F2A44"/>
                </a:solidFill>
                <a:latin typeface="Microsoft YaHei"/>
              </a:rPr>
              <a:t>Flux.1:</a:t>
            </a:r>
            <a:r>
              <a:rPr lang="zh-CN" altLang="en-US" sz="1000" b="1" i="0" dirty="0">
                <a:solidFill>
                  <a:srgbClr val="191B1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双流块与单流块的数量比为 </a:t>
            </a:r>
            <a:r>
              <a:rPr lang="en-US" altLang="zh-CN" sz="1000" b="1" dirty="0">
                <a:solidFill>
                  <a:srgbClr val="191B1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19</a:t>
            </a:r>
            <a:r>
              <a:rPr lang="en-US" altLang="zh-CN" sz="1000" b="1" i="0" dirty="0">
                <a:solidFill>
                  <a:srgbClr val="191B1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:38</a:t>
            </a:r>
          </a:p>
          <a:p>
            <a:r>
              <a:rPr lang="en-US" altLang="zh-CN" sz="1000" b="1" dirty="0">
                <a:solidFill>
                  <a:srgbClr val="1F2A44"/>
                </a:solidFill>
                <a:latin typeface="Microsoft YaHei"/>
              </a:rPr>
              <a:t>Flux.2:</a:t>
            </a:r>
            <a:r>
              <a:rPr lang="zh-CN" altLang="en-US" sz="1000" b="1" i="0" dirty="0">
                <a:solidFill>
                  <a:srgbClr val="191B1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双流块与单流块的数量比为 </a:t>
            </a:r>
            <a:r>
              <a:rPr lang="en-US" altLang="zh-CN" sz="1000" b="1" i="0" dirty="0">
                <a:solidFill>
                  <a:srgbClr val="191B1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8:48</a:t>
            </a:r>
          </a:p>
        </p:txBody>
      </p:sp>
      <p:sp>
        <p:nvSpPr>
          <p:cNvPr id="37" name="Oval 36"/>
          <p:cNvSpPr/>
          <p:nvPr/>
        </p:nvSpPr>
        <p:spPr>
          <a:xfrm>
            <a:off x="4671060" y="2560322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38" name="Rounded Rectangle 37"/>
          <p:cNvSpPr/>
          <p:nvPr/>
        </p:nvSpPr>
        <p:spPr>
          <a:xfrm>
            <a:off x="4579620" y="3182113"/>
            <a:ext cx="3017520" cy="640080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损失函数：Flow Matching（流匹配）</a:t>
            </a:r>
          </a:p>
        </p:txBody>
      </p:sp>
      <p:sp>
        <p:nvSpPr>
          <p:cNvPr id="39" name="Oval 38"/>
          <p:cNvSpPr/>
          <p:nvPr/>
        </p:nvSpPr>
        <p:spPr>
          <a:xfrm>
            <a:off x="4671060" y="3291841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0" name="Rounded Rectangle 39"/>
          <p:cNvSpPr/>
          <p:nvPr/>
        </p:nvSpPr>
        <p:spPr>
          <a:xfrm>
            <a:off x="4579620" y="3913632"/>
            <a:ext cx="3017520" cy="640080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摒弃 CLIP/T5，视觉语言模型统一编码</a:t>
            </a:r>
          </a:p>
        </p:txBody>
      </p:sp>
      <p:sp>
        <p:nvSpPr>
          <p:cNvPr id="41" name="Oval 40"/>
          <p:cNvSpPr/>
          <p:nvPr/>
        </p:nvSpPr>
        <p:spPr>
          <a:xfrm>
            <a:off x="4671060" y="4023360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2" name="TextBox 41"/>
          <p:cNvSpPr txBox="1"/>
          <p:nvPr/>
        </p:nvSpPr>
        <p:spPr>
          <a:xfrm>
            <a:off x="8091168" y="6560845"/>
            <a:ext cx="384048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5A6577"/>
                </a:solidFill>
                <a:latin typeface="Microsoft YaHei"/>
              </a:rPr>
              <a:t>FLUX.1 </a:t>
            </a:r>
            <a:r>
              <a:rPr sz="900" b="1" dirty="0" err="1">
                <a:solidFill>
                  <a:srgbClr val="5A6577"/>
                </a:solidFill>
                <a:latin typeface="Microsoft YaHei"/>
              </a:rPr>
              <a:t>双流</a:t>
            </a:r>
            <a:r>
              <a:rPr sz="900" b="1" dirty="0">
                <a:solidFill>
                  <a:srgbClr val="5A6577"/>
                </a:solidFill>
                <a:latin typeface="Microsoft YaHei"/>
              </a:rPr>
              <a:t> </a:t>
            </a:r>
            <a:r>
              <a:rPr sz="900" b="1" dirty="0" err="1">
                <a:solidFill>
                  <a:srgbClr val="5A6577"/>
                </a:solidFill>
                <a:latin typeface="Microsoft YaHei"/>
              </a:rPr>
              <a:t>DiT</a:t>
            </a:r>
            <a:r>
              <a:rPr sz="900" b="1" dirty="0">
                <a:solidFill>
                  <a:srgbClr val="5A6577"/>
                </a:solidFill>
                <a:latin typeface="Microsoft YaHei"/>
              </a:rPr>
              <a:t> </a:t>
            </a:r>
            <a:r>
              <a:rPr sz="900" b="1" dirty="0" err="1">
                <a:solidFill>
                  <a:srgbClr val="5A6577"/>
                </a:solidFill>
                <a:latin typeface="Microsoft YaHei"/>
              </a:rPr>
              <a:t>架构</a:t>
            </a:r>
            <a:endParaRPr sz="900" b="1" dirty="0">
              <a:solidFill>
                <a:srgbClr val="5A6577"/>
              </a:solidFill>
              <a:latin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48640" y="457200"/>
            <a:ext cx="73152" cy="38404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4" name="Rectangle 43"/>
          <p:cNvSpPr/>
          <p:nvPr/>
        </p:nvSpPr>
        <p:spPr>
          <a:xfrm>
            <a:off x="548640" y="1207008"/>
            <a:ext cx="11091672" cy="9525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9808" y="420624"/>
            <a:ext cx="10058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Microsoft YaHei"/>
              </a:rPr>
              <a:t>Seedream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0174" y="893434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err="1">
                <a:solidFill>
                  <a:srgbClr val="5A6577"/>
                </a:solidFill>
                <a:latin typeface="Microsoft YaHei"/>
              </a:rPr>
              <a:t>统一多模态图像生成系统</a:t>
            </a:r>
            <a:endParaRPr sz="1200" b="1" dirty="0">
              <a:solidFill>
                <a:srgbClr val="5A6577"/>
              </a:solidFill>
              <a:latin typeface="Microsoft YaHei"/>
            </a:endParaRP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514A99EB-3577-6C61-27EA-51C19018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608963"/>
            <a:ext cx="5966966" cy="4618578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74" y="1608963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架构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1734" y="1608963"/>
            <a:ext cx="4357255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 err="1">
                <a:solidFill>
                  <a:srgbClr val="1F2A44"/>
                </a:solidFill>
                <a:latin typeface="Microsoft YaHei"/>
              </a:rPr>
              <a:t>基于扩散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 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DiT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-Transformer 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架构</a:t>
            </a:r>
            <a:r>
              <a:rPr lang="en-US" sz="900" b="1" dirty="0">
                <a:solidFill>
                  <a:srgbClr val="1F2A44"/>
                </a:solidFill>
                <a:latin typeface="Microsoft YaHei"/>
              </a:rPr>
              <a:t>----------</a:t>
            </a:r>
            <a:r>
              <a:rPr lang="zh-CN" altLang="en-US" sz="900" b="1" dirty="0">
                <a:solidFill>
                  <a:srgbClr val="FF0000"/>
                </a:solidFill>
                <a:latin typeface="Microsoft YaHei"/>
              </a:rPr>
              <a:t>双流</a:t>
            </a:r>
            <a:r>
              <a:rPr lang="en-US" altLang="zh-CN" sz="900" b="1" dirty="0" err="1">
                <a:solidFill>
                  <a:srgbClr val="FF0000"/>
                </a:solidFill>
                <a:latin typeface="Microsoft YaHei"/>
              </a:rPr>
              <a:t>DiT</a:t>
            </a:r>
            <a:endParaRPr sz="900" b="1" dirty="0">
              <a:solidFill>
                <a:srgbClr val="FF0000"/>
              </a:solidFill>
              <a:latin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90174" y="2194178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统一能力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41734" y="2194178"/>
            <a:ext cx="4357255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 err="1">
                <a:solidFill>
                  <a:srgbClr val="FF0000"/>
                </a:solidFill>
                <a:latin typeface="Microsoft YaHei"/>
              </a:rPr>
              <a:t>文生图</a:t>
            </a:r>
            <a:r>
              <a:rPr sz="900" b="1" dirty="0">
                <a:solidFill>
                  <a:srgbClr val="FF0000"/>
                </a:solidFill>
                <a:latin typeface="Microsoft YaHei"/>
              </a:rPr>
              <a:t> + </a:t>
            </a:r>
            <a:r>
              <a:rPr sz="900" b="1" dirty="0" err="1">
                <a:solidFill>
                  <a:srgbClr val="FF0000"/>
                </a:solidFill>
                <a:latin typeface="Microsoft YaHei"/>
              </a:rPr>
              <a:t>图像编辑</a:t>
            </a:r>
            <a:r>
              <a:rPr sz="900" b="1" dirty="0">
                <a:solidFill>
                  <a:srgbClr val="FF0000"/>
                </a:solidFill>
                <a:latin typeface="Microsoft YaHei"/>
              </a:rPr>
              <a:t> + </a:t>
            </a:r>
            <a:r>
              <a:rPr sz="900" b="1" dirty="0" err="1">
                <a:solidFill>
                  <a:srgbClr val="FF0000"/>
                </a:solidFill>
                <a:latin typeface="Microsoft YaHei"/>
              </a:rPr>
              <a:t>多图合成，统一到单一模型</a:t>
            </a:r>
            <a:endParaRPr sz="900" b="1" dirty="0">
              <a:solidFill>
                <a:srgbClr val="FF0000"/>
              </a:solidFill>
              <a:latin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90174" y="2779393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文本编码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41734" y="2779393"/>
            <a:ext cx="4357255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 err="1">
                <a:solidFill>
                  <a:srgbClr val="1F2A44"/>
                </a:solidFill>
                <a:latin typeface="Microsoft YaHei"/>
              </a:rPr>
              <a:t>自研双语大语言模型（LLM）作为</a:t>
            </a:r>
            <a:r>
              <a:rPr lang="en-US" altLang="zh-CN" sz="900" b="1" dirty="0" err="1">
                <a:solidFill>
                  <a:srgbClr val="1F2A44"/>
                </a:solidFill>
                <a:latin typeface="Microsoft YaHei"/>
              </a:rPr>
              <a:t>text</a:t>
            </a:r>
            <a:r>
              <a:rPr lang="en-US" altLang="zh-CN" sz="900" b="1" dirty="0">
                <a:solidFill>
                  <a:srgbClr val="1F2A44"/>
                </a:solidFill>
                <a:latin typeface="Microsoft YaHei"/>
              </a:rPr>
              <a:t> </a:t>
            </a:r>
            <a:r>
              <a:rPr lang="en-US" altLang="zh-CN" sz="900" b="1" dirty="0" err="1">
                <a:solidFill>
                  <a:srgbClr val="1F2A44"/>
                </a:solidFill>
                <a:latin typeface="Microsoft YaHei"/>
              </a:rPr>
              <a:t>encoder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核心</a:t>
            </a:r>
            <a:endParaRPr lang="en-US" sz="900" b="1" dirty="0">
              <a:solidFill>
                <a:srgbClr val="1F2A44"/>
              </a:solidFill>
              <a:latin typeface="Microsoft YaHei"/>
            </a:endParaRPr>
          </a:p>
          <a:p>
            <a:pPr algn="l"/>
            <a:br>
              <a:rPr lang="en-US" sz="900" b="1" dirty="0">
                <a:solidFill>
                  <a:srgbClr val="1F2A44"/>
                </a:solidFill>
                <a:latin typeface="Microsoft YaHei"/>
              </a:rPr>
            </a:br>
            <a:r>
              <a:rPr lang="en-US" sz="900" b="1" dirty="0">
                <a:solidFill>
                  <a:srgbClr val="1F2A44"/>
                </a:solidFill>
                <a:latin typeface="Microsoft YaHei"/>
              </a:rPr>
              <a:t>V</a:t>
            </a:r>
            <a:r>
              <a:rPr lang="en-US" altLang="zh-CN" sz="900" b="1" dirty="0">
                <a:solidFill>
                  <a:srgbClr val="1F2A44"/>
                </a:solidFill>
                <a:latin typeface="Microsoft YaHei"/>
              </a:rPr>
              <a:t>AE</a:t>
            </a:r>
            <a:r>
              <a:rPr lang="zh-CN" altLang="en-US" sz="900" b="1" dirty="0">
                <a:solidFill>
                  <a:srgbClr val="1F2A44"/>
                </a:solidFill>
                <a:latin typeface="Microsoft YaHei"/>
              </a:rPr>
              <a:t>处理图像</a:t>
            </a:r>
            <a:endParaRPr sz="9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90174" y="3364608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文字渲染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41734" y="3364608"/>
            <a:ext cx="4357255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>
                <a:solidFill>
                  <a:srgbClr val="1F2A44"/>
                </a:solidFill>
                <a:latin typeface="Microsoft YaHei"/>
              </a:rPr>
              <a:t>Glyph-Aligned ByT5 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编码器，支持双语文字渲染</a:t>
            </a:r>
            <a:endParaRPr sz="9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16220" y="4167451"/>
            <a:ext cx="5148072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A73E8"/>
                </a:solidFill>
                <a:latin typeface="Microsoft YaHei"/>
              </a:rPr>
              <a:t>核心要点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6220" y="4487491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三大核心能力统一：文生图、编辑、多图合成</a:t>
            </a:r>
          </a:p>
        </p:txBody>
      </p:sp>
      <p:sp>
        <p:nvSpPr>
          <p:cNvPr id="35" name="Oval 34"/>
          <p:cNvSpPr/>
          <p:nvPr/>
        </p:nvSpPr>
        <p:spPr>
          <a:xfrm>
            <a:off x="907660" y="4578931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36" name="Rounded Rectangle 35"/>
          <p:cNvSpPr/>
          <p:nvPr/>
        </p:nvSpPr>
        <p:spPr>
          <a:xfrm>
            <a:off x="816220" y="5090994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 dirty="0" err="1">
                <a:solidFill>
                  <a:srgbClr val="1F2A44"/>
                </a:solidFill>
                <a:latin typeface="Microsoft YaHei"/>
              </a:rPr>
              <a:t>自研双语</a:t>
            </a:r>
            <a:r>
              <a:rPr sz="1000" b="1" dirty="0">
                <a:solidFill>
                  <a:srgbClr val="1F2A44"/>
                </a:solidFill>
                <a:latin typeface="Microsoft YaHei"/>
              </a:rPr>
              <a:t> LLM </a:t>
            </a:r>
            <a:r>
              <a:rPr sz="1000" b="1" dirty="0" err="1">
                <a:solidFill>
                  <a:srgbClr val="1F2A44"/>
                </a:solidFill>
                <a:latin typeface="Microsoft YaHei"/>
              </a:rPr>
              <a:t>作为文本编码器</a:t>
            </a:r>
            <a:endParaRPr sz="10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907660" y="5182434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38" name="Rounded Rectangle 37"/>
          <p:cNvSpPr/>
          <p:nvPr/>
        </p:nvSpPr>
        <p:spPr>
          <a:xfrm>
            <a:off x="816220" y="5694497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Glyph-Aligned ByT5 增强文字渲染</a:t>
            </a:r>
          </a:p>
        </p:txBody>
      </p:sp>
      <p:sp>
        <p:nvSpPr>
          <p:cNvPr id="39" name="Oval 38"/>
          <p:cNvSpPr/>
          <p:nvPr/>
        </p:nvSpPr>
        <p:spPr>
          <a:xfrm>
            <a:off x="907660" y="5785937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1" name="TextBox 40"/>
          <p:cNvSpPr txBox="1"/>
          <p:nvPr/>
        </p:nvSpPr>
        <p:spPr>
          <a:xfrm>
            <a:off x="8020857" y="6298877"/>
            <a:ext cx="2629409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 err="1">
                <a:solidFill>
                  <a:srgbClr val="5A6577"/>
                </a:solidFill>
                <a:latin typeface="Microsoft YaHei"/>
              </a:rPr>
              <a:t>Seedream</a:t>
            </a:r>
            <a:r>
              <a:rPr sz="900" b="1" dirty="0">
                <a:solidFill>
                  <a:srgbClr val="5A6577"/>
                </a:solidFill>
                <a:latin typeface="Microsoft YaHei"/>
              </a:rPr>
              <a:t> 4.0 </a:t>
            </a:r>
            <a:r>
              <a:rPr sz="900" b="1" dirty="0" err="1">
                <a:solidFill>
                  <a:srgbClr val="5A6577"/>
                </a:solidFill>
                <a:latin typeface="Microsoft YaHei"/>
              </a:rPr>
              <a:t>模型架构</a:t>
            </a:r>
            <a:endParaRPr sz="900" b="1" dirty="0">
              <a:solidFill>
                <a:srgbClr val="5A6577"/>
              </a:solidFill>
              <a:latin typeface="Microsoft YaHei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48640" y="457200"/>
            <a:ext cx="73152" cy="38404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3" name="Rectangle 42"/>
          <p:cNvSpPr/>
          <p:nvPr/>
        </p:nvSpPr>
        <p:spPr>
          <a:xfrm>
            <a:off x="548640" y="1207008"/>
            <a:ext cx="11091672" cy="9525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4" name="Rounded Rectangle 43"/>
          <p:cNvSpPr/>
          <p:nvPr/>
        </p:nvSpPr>
        <p:spPr>
          <a:xfrm>
            <a:off x="490174" y="1207008"/>
            <a:ext cx="1645920" cy="310896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扩散 DiT-Transformer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21792" y="383615"/>
            <a:ext cx="10058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dirty="0">
                <a:solidFill>
                  <a:srgbClr val="1F2A44"/>
                </a:solidFill>
                <a:latin typeface="Microsoft YaHei"/>
              </a:rPr>
              <a:t>Z-Image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9828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err="1">
                <a:solidFill>
                  <a:srgbClr val="5A6577"/>
                </a:solidFill>
                <a:latin typeface="Microsoft YaHei"/>
              </a:rPr>
              <a:t>阿里通义MAI团队</a:t>
            </a:r>
            <a:r>
              <a:rPr sz="1200" b="1" dirty="0">
                <a:solidFill>
                  <a:srgbClr val="5A6577"/>
                </a:solidFill>
                <a:latin typeface="Microsoft YaHei"/>
              </a:rPr>
              <a:t> · </a:t>
            </a:r>
            <a:r>
              <a:rPr sz="1200" b="1" dirty="0" err="1">
                <a:solidFill>
                  <a:srgbClr val="5A6577"/>
                </a:solidFill>
                <a:latin typeface="Microsoft YaHei"/>
              </a:rPr>
              <a:t>单流架构解决跨模态对齐</a:t>
            </a:r>
            <a:endParaRPr sz="1200" b="1" dirty="0">
              <a:solidFill>
                <a:srgbClr val="5A6577"/>
              </a:solidFill>
              <a:latin typeface="Microsoft YaHe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5684" y="1303019"/>
            <a:ext cx="1541734" cy="310896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 dirty="0" err="1">
                <a:solidFill>
                  <a:srgbClr val="FFFFFF"/>
                </a:solidFill>
                <a:latin typeface="Microsoft YaHei"/>
              </a:rPr>
              <a:t>单流</a:t>
            </a:r>
            <a:r>
              <a:rPr sz="1000" b="1" dirty="0">
                <a:solidFill>
                  <a:srgbClr val="FFFFFF"/>
                </a:solidFill>
                <a:latin typeface="Microsoft YaHei"/>
              </a:rPr>
              <a:t> S3-DiT · 6B</a:t>
            </a: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11171C52-3D0D-AFE9-0F75-4113918F8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476" y="1764607"/>
            <a:ext cx="6094364" cy="415003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548640" y="1743551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文本编码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00200" y="1743551"/>
            <a:ext cx="4367276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轻量化 Qwen3-4B 作为文本编码器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2328766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图像VAE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0200" y="2328766"/>
            <a:ext cx="4367276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>
                <a:solidFill>
                  <a:srgbClr val="1F2A44"/>
                </a:solidFill>
                <a:latin typeface="Microsoft YaHei"/>
              </a:rPr>
              <a:t>FLUX.1 VAE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2913981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编辑编码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00200" y="2913981"/>
            <a:ext cx="4367276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SigLIP 2 多模态编码器（提取抽象视觉语义）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499196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主干网络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600200" y="3499196"/>
            <a:ext cx="4367276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>
                <a:solidFill>
                  <a:srgbClr val="1F2A44"/>
                </a:solidFill>
                <a:latin typeface="Microsoft YaHei"/>
              </a:rPr>
              <a:t>S3-DiT </a:t>
            </a:r>
            <a:r>
              <a:rPr sz="900" b="1" dirty="0" err="1">
                <a:solidFill>
                  <a:srgbClr val="FF0000"/>
                </a:solidFill>
                <a:latin typeface="Microsoft YaHei"/>
              </a:rPr>
              <a:t>单流</a:t>
            </a:r>
            <a:r>
              <a:rPr sz="900" b="1" dirty="0">
                <a:solidFill>
                  <a:srgbClr val="FF0000"/>
                </a:solidFill>
                <a:latin typeface="Microsoft YaHei"/>
              </a:rPr>
              <a:t> </a:t>
            </a:r>
            <a:r>
              <a:rPr sz="900" b="1" dirty="0" err="1">
                <a:solidFill>
                  <a:srgbClr val="FF0000"/>
                </a:solidFill>
                <a:latin typeface="Microsoft YaHei"/>
              </a:rPr>
              <a:t>DiT</a:t>
            </a:r>
            <a:r>
              <a:rPr lang="zh-CN" altLang="en-US" sz="900" b="1" dirty="0">
                <a:solidFill>
                  <a:srgbClr val="1F2A44"/>
                </a:solidFill>
                <a:latin typeface="Microsoft YaHei"/>
              </a:rPr>
              <a:t>，扩散损失 </a:t>
            </a:r>
            <a:r>
              <a:rPr lang="en-US" altLang="zh-CN" sz="900" b="1" dirty="0">
                <a:solidFill>
                  <a:srgbClr val="1F2A44"/>
                </a:solidFill>
                <a:latin typeface="Microsoft YaHei"/>
              </a:rPr>
              <a:t>flow matching</a:t>
            </a:r>
            <a:endParaRPr sz="9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19404" y="4186429"/>
            <a:ext cx="5148072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A73E8"/>
                </a:solidFill>
                <a:latin typeface="Microsoft YaHei"/>
              </a:rPr>
              <a:t>核心要点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9404" y="4506469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lang="zh-CN" altLang="en-US" sz="1000" b="1" dirty="0">
                <a:solidFill>
                  <a:srgbClr val="1F2A44"/>
                </a:solidFill>
                <a:latin typeface="Microsoft YaHei"/>
              </a:rPr>
              <a:t>文本</a:t>
            </a:r>
            <a:r>
              <a:rPr lang="en-US" altLang="zh-CN" sz="1000" b="1" dirty="0">
                <a:solidFill>
                  <a:srgbClr val="1F2A44"/>
                </a:solidFill>
                <a:latin typeface="Microsoft YaHei"/>
              </a:rPr>
              <a:t>/</a:t>
            </a:r>
            <a:r>
              <a:rPr lang="zh-CN" altLang="en-US" sz="1000" b="1" dirty="0">
                <a:solidFill>
                  <a:srgbClr val="1F2A44"/>
                </a:solidFill>
                <a:latin typeface="Microsoft YaHei"/>
              </a:rPr>
              <a:t>图像</a:t>
            </a:r>
            <a:r>
              <a:rPr lang="en-US" altLang="zh-CN" sz="1000" b="1" dirty="0">
                <a:solidFill>
                  <a:srgbClr val="1F2A44"/>
                </a:solidFill>
                <a:latin typeface="Microsoft YaHei"/>
              </a:rPr>
              <a:t>/</a:t>
            </a:r>
            <a:r>
              <a:rPr lang="zh-CN" altLang="en-US" sz="1000" b="1" dirty="0">
                <a:solidFill>
                  <a:srgbClr val="1F2A44"/>
                </a:solidFill>
                <a:latin typeface="Microsoft YaHei"/>
              </a:rPr>
              <a:t>语义</a:t>
            </a:r>
            <a:r>
              <a:rPr lang="en-US" altLang="zh-CN" sz="1000" b="1" dirty="0">
                <a:solidFill>
                  <a:srgbClr val="1F2A44"/>
                </a:solidFill>
                <a:latin typeface="Microsoft YaHei"/>
              </a:rPr>
              <a:t>Tokens</a:t>
            </a:r>
            <a:r>
              <a:rPr lang="zh-CN" altLang="en-US" sz="1000" b="1" dirty="0">
                <a:solidFill>
                  <a:srgbClr val="1F2A44"/>
                </a:solidFill>
                <a:latin typeface="Microsoft YaHei"/>
              </a:rPr>
              <a:t>序列维度</a:t>
            </a:r>
            <a:r>
              <a:rPr lang="zh-CN" altLang="en-US" sz="1000" b="1" dirty="0">
                <a:solidFill>
                  <a:srgbClr val="FF0000"/>
                </a:solidFill>
                <a:latin typeface="Microsoft YaHei"/>
              </a:rPr>
              <a:t>直接拼接</a:t>
            </a:r>
            <a:r>
              <a:rPr lang="zh-CN" altLang="en-US" sz="1000" b="1" dirty="0">
                <a:solidFill>
                  <a:srgbClr val="1F2A44"/>
                </a:solidFill>
                <a:latin typeface="Microsoft YaHei"/>
              </a:rPr>
              <a:t>，输入</a:t>
            </a:r>
            <a:r>
              <a:rPr lang="en-US" altLang="zh-CN" sz="1000" b="1" dirty="0">
                <a:solidFill>
                  <a:srgbClr val="1F2A44"/>
                </a:solidFill>
                <a:latin typeface="Microsoft YaHei"/>
              </a:rPr>
              <a:t>30</a:t>
            </a:r>
            <a:r>
              <a:rPr lang="zh-CN" altLang="en-US" sz="1000" b="1" dirty="0">
                <a:solidFill>
                  <a:srgbClr val="1F2A44"/>
                </a:solidFill>
                <a:latin typeface="Microsoft YaHei"/>
              </a:rPr>
              <a:t>层 </a:t>
            </a:r>
            <a:r>
              <a:rPr lang="en-US" altLang="zh-CN" sz="1000" b="1" dirty="0">
                <a:solidFill>
                  <a:srgbClr val="1F2A44"/>
                </a:solidFill>
                <a:latin typeface="Microsoft YaHei"/>
              </a:rPr>
              <a:t>S3-DiT</a:t>
            </a:r>
            <a:r>
              <a:rPr lang="zh-CN" altLang="en-US" sz="1000" b="1" dirty="0">
                <a:solidFill>
                  <a:srgbClr val="1F2A44"/>
                </a:solidFill>
                <a:latin typeface="Microsoft YaHei"/>
              </a:rPr>
              <a:t>主干</a:t>
            </a:r>
          </a:p>
        </p:txBody>
      </p:sp>
      <p:sp>
        <p:nvSpPr>
          <p:cNvPr id="38" name="Oval 37"/>
          <p:cNvSpPr/>
          <p:nvPr/>
        </p:nvSpPr>
        <p:spPr>
          <a:xfrm>
            <a:off x="910844" y="4597909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39" name="Rounded Rectangle 38"/>
          <p:cNvSpPr/>
          <p:nvPr/>
        </p:nvSpPr>
        <p:spPr>
          <a:xfrm>
            <a:off x="819404" y="5109972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SigLIP 2 保证主体身份保留，避免变脸</a:t>
            </a:r>
          </a:p>
        </p:txBody>
      </p:sp>
      <p:sp>
        <p:nvSpPr>
          <p:cNvPr id="40" name="Oval 39"/>
          <p:cNvSpPr/>
          <p:nvPr/>
        </p:nvSpPr>
        <p:spPr>
          <a:xfrm>
            <a:off x="910844" y="5201412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1" name="Rounded Rectangle 40"/>
          <p:cNvSpPr/>
          <p:nvPr/>
        </p:nvSpPr>
        <p:spPr>
          <a:xfrm>
            <a:off x="819404" y="5713475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 dirty="0">
                <a:solidFill>
                  <a:srgbClr val="1F2A44"/>
                </a:solidFill>
                <a:latin typeface="Microsoft YaHei"/>
              </a:rPr>
              <a:t>6B </a:t>
            </a:r>
            <a:r>
              <a:rPr sz="1000" b="1" dirty="0" err="1">
                <a:solidFill>
                  <a:srgbClr val="1F2A44"/>
                </a:solidFill>
                <a:latin typeface="Microsoft YaHei"/>
              </a:rPr>
              <a:t>参数量，轻量高效</a:t>
            </a:r>
            <a:r>
              <a:rPr lang="en-US" sz="1000" b="1" dirty="0">
                <a:solidFill>
                  <a:srgbClr val="1F2A44"/>
                </a:solidFill>
                <a:latin typeface="Microsoft YaHei"/>
              </a:rPr>
              <a:t>:  </a:t>
            </a:r>
            <a:r>
              <a:rPr lang="zh-CN" altLang="en-US" sz="1000" b="1" dirty="0">
                <a:solidFill>
                  <a:srgbClr val="1F2A44"/>
                </a:solidFill>
                <a:latin typeface="Microsoft YaHei"/>
              </a:rPr>
              <a:t>训练数据高效，小模型达到大模型效果</a:t>
            </a:r>
            <a:endParaRPr sz="10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910844" y="5804915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4" name="TextBox 43"/>
          <p:cNvSpPr txBox="1"/>
          <p:nvPr/>
        </p:nvSpPr>
        <p:spPr>
          <a:xfrm>
            <a:off x="6668654" y="6145048"/>
            <a:ext cx="4812145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5A6577"/>
                </a:solidFill>
                <a:latin typeface="Microsoft YaHei"/>
              </a:rPr>
              <a:t>Z-Image S3-DiT </a:t>
            </a:r>
            <a:r>
              <a:rPr sz="900" b="1" dirty="0" err="1">
                <a:solidFill>
                  <a:srgbClr val="5A6577"/>
                </a:solidFill>
                <a:latin typeface="Microsoft YaHei"/>
              </a:rPr>
              <a:t>架构：模态预处理后文本、图像、语义Tokens序列维度直接拼接</a:t>
            </a:r>
            <a:endParaRPr sz="900" b="1" dirty="0">
              <a:solidFill>
                <a:srgbClr val="5A6577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9808" y="420624"/>
            <a:ext cx="10058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Microsoft YaHei"/>
              </a:rPr>
              <a:t>Ideogram 4.0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38784"/>
            <a:ext cx="2434705" cy="310896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YaHei"/>
              </a:rPr>
              <a:t>Flow-Matching · </a:t>
            </a:r>
            <a:r>
              <a:rPr sz="1000" b="1" dirty="0" err="1">
                <a:solidFill>
                  <a:srgbClr val="FFFFFF"/>
                </a:solidFill>
                <a:latin typeface="Microsoft YaHei"/>
              </a:rPr>
              <a:t>可控设计生成</a:t>
            </a:r>
            <a:endParaRPr sz="1000" b="1" dirty="0">
              <a:solidFill>
                <a:srgbClr val="FFFFFF"/>
              </a:solidFill>
              <a:latin typeface="Microsoft YaHei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AAB6EEB9-D24F-A9EA-9527-16C1C4BA5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936" y="3659245"/>
            <a:ext cx="8338127" cy="3037369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548640" y="1325881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架构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00200" y="1325881"/>
            <a:ext cx="461772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lang="en-US" sz="900" b="1" dirty="0">
                <a:solidFill>
                  <a:srgbClr val="1F2A44"/>
                </a:solidFill>
                <a:latin typeface="Microsoft YaHei"/>
              </a:rPr>
              <a:t>Flow-Matching </a:t>
            </a:r>
            <a:r>
              <a:rPr lang="zh-CN" altLang="en-US" sz="900" b="1" dirty="0">
                <a:solidFill>
                  <a:srgbClr val="C00000"/>
                </a:solidFill>
                <a:latin typeface="Microsoft YaHei"/>
              </a:rPr>
              <a:t>文生图模型</a:t>
            </a:r>
            <a:r>
              <a:rPr lang="zh-CN" altLang="en-US" sz="900" b="1" dirty="0">
                <a:solidFill>
                  <a:srgbClr val="1F2A44"/>
                </a:solidFill>
                <a:latin typeface="Microsoft YaHei"/>
              </a:rPr>
              <a:t> </a:t>
            </a:r>
            <a:r>
              <a:rPr lang="en-US" altLang="zh-CN" sz="900" b="1" dirty="0">
                <a:solidFill>
                  <a:srgbClr val="1F2A44"/>
                </a:solidFill>
                <a:latin typeface="Microsoft YaHei"/>
              </a:rPr>
              <a:t>· </a:t>
            </a:r>
            <a:r>
              <a:rPr lang="zh-CN" altLang="en-US" sz="900" b="1" dirty="0">
                <a:solidFill>
                  <a:srgbClr val="FF0000"/>
                </a:solidFill>
                <a:latin typeface="Microsoft YaHei"/>
              </a:rPr>
              <a:t>单流 </a:t>
            </a:r>
            <a:r>
              <a:rPr lang="en-US" sz="900" b="1" dirty="0" err="1">
                <a:solidFill>
                  <a:srgbClr val="FF0000"/>
                </a:solidFill>
                <a:latin typeface="Microsoft YaHei"/>
              </a:rPr>
              <a:t>DiT</a:t>
            </a:r>
            <a:r>
              <a:rPr lang="zh-CN" altLang="en-US" sz="900" b="1" dirty="0">
                <a:solidFill>
                  <a:srgbClr val="FF0000"/>
                </a:solidFill>
                <a:latin typeface="Microsoft YaHei"/>
              </a:rPr>
              <a:t>，</a:t>
            </a:r>
            <a:r>
              <a:rPr lang="zh-CN" altLang="en-US" sz="900" b="1" dirty="0">
                <a:solidFill>
                  <a:schemeClr val="tx1"/>
                </a:solidFill>
                <a:latin typeface="Microsoft YaHei"/>
              </a:rPr>
              <a:t>参数量：</a:t>
            </a:r>
            <a:r>
              <a:rPr lang="en-US" altLang="zh-CN" sz="900" b="1" dirty="0">
                <a:solidFill>
                  <a:schemeClr val="tx1"/>
                </a:solidFill>
                <a:latin typeface="Microsoft YaHei"/>
              </a:rPr>
              <a:t>9.3B</a:t>
            </a:r>
            <a:endParaRPr lang="zh-CN" altLang="en-US" sz="900" b="1" dirty="0">
              <a:solidFill>
                <a:schemeClr val="tx1"/>
              </a:solidFill>
              <a:latin typeface="Microsoft YaHe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48640" y="1911096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文本编码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0200" y="1911096"/>
            <a:ext cx="461772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lang="zh-CN" altLang="en-US" sz="900" b="1" dirty="0">
                <a:solidFill>
                  <a:srgbClr val="1F2A44"/>
                </a:solidFill>
                <a:latin typeface="Microsoft YaHei"/>
              </a:rPr>
              <a:t>使用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Qwen3-VL-8B-Instruct</a:t>
            </a:r>
            <a:r>
              <a:rPr lang="zh-CN" altLang="en-US" sz="900" b="1" dirty="0">
                <a:solidFill>
                  <a:srgbClr val="1F2A44"/>
                </a:solidFill>
                <a:latin typeface="Microsoft YaHei"/>
              </a:rPr>
              <a:t>：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 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从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Qwen3-VL 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的 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36 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层 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transformer 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中抽取 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13 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个中间层 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hidden states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：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0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、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3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、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6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、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9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、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12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、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15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、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18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、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21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、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24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、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27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、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30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、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33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、</a:t>
            </a:r>
            <a:r>
              <a:rPr lang="en-US" altLang="zh-CN" sz="900" b="0" i="0" dirty="0">
                <a:solidFill>
                  <a:srgbClr val="191B1F"/>
                </a:solidFill>
                <a:effectLst/>
                <a:latin typeface="-apple-system"/>
              </a:rPr>
              <a:t>35</a:t>
            </a:r>
            <a:r>
              <a:rPr lang="zh-CN" altLang="en-US" sz="900" b="0" i="0" dirty="0">
                <a:solidFill>
                  <a:srgbClr val="191B1F"/>
                </a:solidFill>
                <a:effectLst/>
                <a:latin typeface="-apple-system"/>
              </a:rPr>
              <a:t>，然后拼接成多尺度文本表示，理解早期、中层、深层语义信息</a:t>
            </a:r>
            <a:endParaRPr sz="9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48640" y="2496311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交互方式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00200" y="2496311"/>
            <a:ext cx="461772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 err="1">
                <a:solidFill>
                  <a:srgbClr val="1F2A44"/>
                </a:solidFill>
                <a:latin typeface="Microsoft YaHei"/>
              </a:rPr>
              <a:t>文本token与图像latent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 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token同一注意力空间交互</a:t>
            </a:r>
            <a:r>
              <a:rPr lang="en-US" sz="900" b="1" dirty="0">
                <a:solidFill>
                  <a:srgbClr val="1F2A44"/>
                </a:solidFill>
                <a:latin typeface="Microsoft YaHei"/>
              </a:rPr>
              <a:t>--</a:t>
            </a:r>
            <a:r>
              <a:rPr lang="en-US" altLang="zh-CN" sz="900" b="0" i="0" dirty="0">
                <a:solidFill>
                  <a:srgbClr val="FF0000"/>
                </a:solidFill>
                <a:effectLst/>
                <a:latin typeface="-apple-system"/>
              </a:rPr>
              <a:t> </a:t>
            </a:r>
            <a:r>
              <a:rPr lang="en-US" altLang="zh-CN" sz="900" b="1" i="0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Qwen3-VL </a:t>
            </a:r>
            <a:r>
              <a:rPr lang="zh-CN" altLang="en-US" sz="900" b="1" i="0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文本 </a:t>
            </a:r>
            <a:r>
              <a:rPr lang="en-US" altLang="zh-CN" sz="900" b="1" i="0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token </a:t>
            </a:r>
            <a:r>
              <a:rPr lang="zh-CN" altLang="en-US" sz="900" b="1" i="0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和图像 </a:t>
            </a:r>
            <a:r>
              <a:rPr lang="en-US" altLang="zh-CN" sz="900" b="1" i="0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latent token </a:t>
            </a:r>
            <a:r>
              <a:rPr lang="zh-CN" altLang="en-US" sz="900" b="1" i="0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拼成一条统一序列</a:t>
            </a:r>
            <a:endParaRPr sz="9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48640" y="3081526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特色能力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600200" y="3081526"/>
            <a:ext cx="461772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结构化JSON Prompt · 文字渲染 · 空间布局/颜色控制 · 原生2K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1325881"/>
            <a:ext cx="5148072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A73E8"/>
                </a:solidFill>
                <a:latin typeface="Microsoft YaHei"/>
              </a:rPr>
              <a:t>核心要点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2240" y="1645921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可控设计生成：结构化 JSON Prompt</a:t>
            </a:r>
          </a:p>
        </p:txBody>
      </p:sp>
      <p:sp>
        <p:nvSpPr>
          <p:cNvPr id="38" name="Oval 37"/>
          <p:cNvSpPr/>
          <p:nvPr/>
        </p:nvSpPr>
        <p:spPr>
          <a:xfrm>
            <a:off x="6583680" y="1737361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39" name="Rounded Rectangle 38"/>
          <p:cNvSpPr/>
          <p:nvPr/>
        </p:nvSpPr>
        <p:spPr>
          <a:xfrm>
            <a:off x="6492240" y="2249424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更强的图中文字渲染能力</a:t>
            </a:r>
          </a:p>
        </p:txBody>
      </p:sp>
      <p:sp>
        <p:nvSpPr>
          <p:cNvPr id="40" name="Oval 39"/>
          <p:cNvSpPr/>
          <p:nvPr/>
        </p:nvSpPr>
        <p:spPr>
          <a:xfrm>
            <a:off x="6583680" y="2340864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1" name="Rounded Rectangle 40"/>
          <p:cNvSpPr/>
          <p:nvPr/>
        </p:nvSpPr>
        <p:spPr>
          <a:xfrm>
            <a:off x="6492240" y="2852927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原生 2K 分辨率与灵活长宽比</a:t>
            </a:r>
          </a:p>
        </p:txBody>
      </p:sp>
      <p:sp>
        <p:nvSpPr>
          <p:cNvPr id="42" name="Oval 41"/>
          <p:cNvSpPr/>
          <p:nvPr/>
        </p:nvSpPr>
        <p:spPr>
          <a:xfrm>
            <a:off x="6583680" y="2944367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4" name="TextBox 43"/>
          <p:cNvSpPr txBox="1"/>
          <p:nvPr/>
        </p:nvSpPr>
        <p:spPr>
          <a:xfrm>
            <a:off x="307062" y="6627365"/>
            <a:ext cx="1109167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5A6577"/>
                </a:solidFill>
                <a:latin typeface="Microsoft YaHei"/>
              </a:rPr>
              <a:t>Ideogram 4.0 </a:t>
            </a:r>
            <a:r>
              <a:rPr sz="900" b="1" dirty="0" err="1">
                <a:solidFill>
                  <a:srgbClr val="5A6577"/>
                </a:solidFill>
                <a:latin typeface="Microsoft YaHei"/>
              </a:rPr>
              <a:t>架构流程</a:t>
            </a:r>
            <a:endParaRPr sz="900" b="1" dirty="0">
              <a:solidFill>
                <a:srgbClr val="5A6577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9808" y="420624"/>
            <a:ext cx="10058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dirty="0">
                <a:solidFill>
                  <a:srgbClr val="1F2A44"/>
                </a:solidFill>
                <a:latin typeface="Microsoft YaHei"/>
              </a:rPr>
              <a:t>HiDream-O1-Image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991" y="1020460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err="1">
                <a:solidFill>
                  <a:srgbClr val="5A6577"/>
                </a:solidFill>
                <a:latin typeface="Microsoft YaHei"/>
              </a:rPr>
              <a:t>统一多模态标记化</a:t>
            </a:r>
            <a:r>
              <a:rPr sz="1200" b="1" dirty="0">
                <a:solidFill>
                  <a:srgbClr val="5A6577"/>
                </a:solidFill>
                <a:latin typeface="Microsoft YaHei"/>
              </a:rPr>
              <a:t> · </a:t>
            </a:r>
            <a:r>
              <a:rPr sz="1200" b="1" dirty="0" err="1">
                <a:solidFill>
                  <a:srgbClr val="5A6577"/>
                </a:solidFill>
                <a:latin typeface="Microsoft YaHei"/>
              </a:rPr>
              <a:t>混合统一注意力</a:t>
            </a:r>
            <a:endParaRPr sz="1200" b="1" dirty="0">
              <a:solidFill>
                <a:srgbClr val="5A6577"/>
              </a:solidFill>
              <a:latin typeface="Microsoft YaHei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8B424A63-A727-6FBA-324E-5A3190B58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026" y="1879270"/>
            <a:ext cx="6269581" cy="4395529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437619" y="1868297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架构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89179" y="1868297"/>
            <a:ext cx="4096512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>
                <a:solidFill>
                  <a:schemeClr val="tx1"/>
                </a:solidFill>
                <a:latin typeface="Microsoft YaHei"/>
              </a:rPr>
              <a:t>Decoder-only </a:t>
            </a:r>
            <a:r>
              <a:rPr sz="900" b="1" dirty="0" err="1">
                <a:solidFill>
                  <a:schemeClr val="tx1"/>
                </a:solidFill>
                <a:latin typeface="Microsoft YaHei"/>
              </a:rPr>
              <a:t>Transformer（UiT</a:t>
            </a:r>
            <a:r>
              <a:rPr sz="900" b="1" dirty="0">
                <a:solidFill>
                  <a:schemeClr val="tx1"/>
                </a:solidFill>
                <a:latin typeface="Microsoft YaHei"/>
              </a:rPr>
              <a:t> </a:t>
            </a:r>
            <a:r>
              <a:rPr sz="900" b="1" dirty="0" err="1">
                <a:solidFill>
                  <a:schemeClr val="tx1"/>
                </a:solidFill>
                <a:latin typeface="Microsoft YaHei"/>
              </a:rPr>
              <a:t>骨干网络</a:t>
            </a:r>
            <a:r>
              <a:rPr sz="900" b="1" dirty="0">
                <a:solidFill>
                  <a:schemeClr val="tx1"/>
                </a:solidFill>
                <a:latin typeface="Microsoft YaHei"/>
              </a:rPr>
              <a:t>）</a:t>
            </a:r>
            <a:r>
              <a:rPr lang="zh-CN" altLang="en-US" sz="900" b="1" dirty="0">
                <a:solidFill>
                  <a:schemeClr val="tx1"/>
                </a:solidFill>
                <a:latin typeface="Microsoft YaHei"/>
              </a:rPr>
              <a:t>：</a:t>
            </a:r>
            <a:r>
              <a:rPr lang="en-US" altLang="zh-CN" sz="900" dirty="0">
                <a:solidFill>
                  <a:schemeClr val="tx1"/>
                </a:solidFill>
              </a:rPr>
              <a:t>VAE</a:t>
            </a:r>
            <a:r>
              <a:rPr lang="zh-CN" altLang="en-US" sz="900" dirty="0">
                <a:solidFill>
                  <a:schemeClr val="tx1"/>
                </a:solidFill>
              </a:rPr>
              <a:t>、</a:t>
            </a:r>
            <a:r>
              <a:rPr lang="en-US" altLang="zh-CN" sz="900" dirty="0" err="1">
                <a:solidFill>
                  <a:schemeClr val="tx1"/>
                </a:solidFill>
              </a:rPr>
              <a:t>DiT</a:t>
            </a:r>
            <a:r>
              <a:rPr lang="en-US" altLang="zh-CN" sz="900" dirty="0">
                <a:solidFill>
                  <a:schemeClr val="tx1"/>
                </a:solidFill>
              </a:rPr>
              <a:t> </a:t>
            </a:r>
            <a:r>
              <a:rPr lang="zh-CN" altLang="en-US" sz="900" dirty="0">
                <a:solidFill>
                  <a:schemeClr val="tx1"/>
                </a:solidFill>
              </a:rPr>
              <a:t>和 </a:t>
            </a:r>
            <a:r>
              <a:rPr lang="en-US" altLang="zh-CN" sz="900" dirty="0">
                <a:solidFill>
                  <a:schemeClr val="tx1"/>
                </a:solidFill>
              </a:rPr>
              <a:t>Text Encoder </a:t>
            </a:r>
            <a:r>
              <a:rPr lang="zh-CN" altLang="en-US" sz="900" dirty="0">
                <a:solidFill>
                  <a:schemeClr val="tx1"/>
                </a:solidFill>
              </a:rPr>
              <a:t>融合成了一个单一的、大一统的 </a:t>
            </a:r>
            <a:r>
              <a:rPr lang="en-US" altLang="zh-CN" sz="900" dirty="0">
                <a:solidFill>
                  <a:schemeClr val="tx1"/>
                </a:solidFill>
              </a:rPr>
              <a:t>Transformer </a:t>
            </a:r>
            <a:r>
              <a:rPr lang="zh-CN" altLang="en-US" sz="900" dirty="0">
                <a:solidFill>
                  <a:schemeClr val="tx1"/>
                </a:solidFill>
              </a:rPr>
              <a:t>网络</a:t>
            </a:r>
            <a:endParaRPr sz="900" b="1" dirty="0">
              <a:solidFill>
                <a:schemeClr val="tx1"/>
              </a:solidFill>
              <a:latin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437619" y="2453512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标记化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89179" y="2453512"/>
            <a:ext cx="4096512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 err="1">
                <a:solidFill>
                  <a:srgbClr val="1F2A44"/>
                </a:solidFill>
                <a:latin typeface="Microsoft YaHei"/>
              </a:rPr>
              <a:t>像素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/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文本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/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任务条件映射到共享标记空间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, SigLip2+投影映射</a:t>
            </a:r>
            <a:r>
              <a:rPr lang="en-US" sz="900" b="1" dirty="0">
                <a:solidFill>
                  <a:srgbClr val="1F2A44"/>
                </a:solidFill>
                <a:latin typeface="Microsoft YaHei"/>
              </a:rPr>
              <a:t>(</a:t>
            </a:r>
            <a:r>
              <a:rPr lang="en-US" sz="900" b="1" dirty="0" err="1">
                <a:solidFill>
                  <a:srgbClr val="1F2A44"/>
                </a:solidFill>
                <a:latin typeface="Microsoft YaHei"/>
              </a:rPr>
              <a:t>mlp</a:t>
            </a:r>
            <a:r>
              <a:rPr lang="en-US" sz="900" b="1" dirty="0">
                <a:solidFill>
                  <a:srgbClr val="1F2A44"/>
                </a:solidFill>
                <a:latin typeface="Microsoft YaHei"/>
              </a:rPr>
              <a:t>)</a:t>
            </a:r>
          </a:p>
          <a:p>
            <a:pPr algn="l"/>
            <a:endParaRPr lang="en-US" altLang="zh-CN" sz="900" b="1" dirty="0">
              <a:solidFill>
                <a:srgbClr val="1F2A44"/>
              </a:solidFill>
              <a:latin typeface="Microsoft YaHei"/>
            </a:endParaRPr>
          </a:p>
          <a:p>
            <a:pPr algn="l"/>
            <a:r>
              <a:rPr lang="zh-CN" altLang="en-US" sz="900" b="1" dirty="0">
                <a:solidFill>
                  <a:srgbClr val="1F2A44"/>
                </a:solidFill>
                <a:latin typeface="Microsoft YaHei"/>
              </a:rPr>
              <a:t>消除</a:t>
            </a:r>
            <a:r>
              <a:rPr lang="en-US" altLang="zh-CN" sz="900" b="1" dirty="0">
                <a:solidFill>
                  <a:srgbClr val="1F2A44"/>
                </a:solidFill>
                <a:latin typeface="Microsoft YaHei"/>
              </a:rPr>
              <a:t>VAE</a:t>
            </a:r>
            <a:r>
              <a:rPr lang="zh-CN" altLang="en-US" sz="900" b="1" dirty="0">
                <a:solidFill>
                  <a:srgbClr val="1F2A44"/>
                </a:solidFill>
                <a:latin typeface="Microsoft YaHei"/>
              </a:rPr>
              <a:t>、</a:t>
            </a:r>
            <a:r>
              <a:rPr lang="en-US" altLang="zh-CN" sz="900" b="1" dirty="0">
                <a:solidFill>
                  <a:srgbClr val="1F2A44"/>
                </a:solidFill>
                <a:latin typeface="Microsoft YaHei"/>
              </a:rPr>
              <a:t>text encoder</a:t>
            </a:r>
            <a:endParaRPr sz="9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37619" y="3038727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注意力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89179" y="3038727"/>
            <a:ext cx="4096512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r>
              <a:rPr sz="900" b="1" dirty="0" err="1">
                <a:solidFill>
                  <a:schemeClr val="tx1"/>
                </a:solidFill>
                <a:latin typeface="Microsoft YaHei"/>
              </a:rPr>
              <a:t>混合统一注意力</a:t>
            </a:r>
            <a:r>
              <a:rPr sz="900" b="1" dirty="0">
                <a:solidFill>
                  <a:schemeClr val="tx1"/>
                </a:solidFill>
                <a:latin typeface="Microsoft YaHei"/>
              </a:rPr>
              <a:t>：</a:t>
            </a:r>
            <a:endParaRPr lang="en-US" sz="900" b="1" dirty="0">
              <a:solidFill>
                <a:schemeClr val="tx1"/>
              </a:solidFill>
              <a:latin typeface="Microsoft YaHei"/>
            </a:endParaRPr>
          </a:p>
          <a:p>
            <a:r>
              <a:rPr sz="900" b="1" dirty="0" err="1">
                <a:solidFill>
                  <a:schemeClr val="tx1"/>
                </a:solidFill>
                <a:latin typeface="Microsoft YaHei"/>
              </a:rPr>
              <a:t>条件+文本</a:t>
            </a:r>
            <a:r>
              <a:rPr lang="zh-CN" altLang="en-US" sz="900" b="1" dirty="0">
                <a:solidFill>
                  <a:schemeClr val="tx1"/>
                </a:solidFill>
                <a:latin typeface="Microsoft YaHei"/>
              </a:rPr>
              <a:t>：</a:t>
            </a:r>
            <a:r>
              <a:rPr sz="900" b="1" dirty="0" err="1">
                <a:solidFill>
                  <a:schemeClr val="tx1"/>
                </a:solidFill>
                <a:latin typeface="Microsoft YaHei"/>
              </a:rPr>
              <a:t>因果掩码</a:t>
            </a:r>
            <a:r>
              <a:rPr lang="zh-CN" altLang="en-US" sz="900" b="1" dirty="0">
                <a:solidFill>
                  <a:schemeClr val="tx1"/>
                </a:solidFill>
                <a:latin typeface="Microsoft YaHei"/>
              </a:rPr>
              <a:t>（</a:t>
            </a:r>
            <a:r>
              <a:rPr lang="zh-CN" altLang="en-US" sz="900" dirty="0">
                <a:solidFill>
                  <a:schemeClr val="tx1"/>
                </a:solidFill>
                <a:effectLst/>
              </a:rPr>
              <a:t>只能关注序列中前面的多模态 </a:t>
            </a:r>
            <a:r>
              <a:rPr lang="en-US" altLang="zh-CN" sz="900" dirty="0">
                <a:solidFill>
                  <a:schemeClr val="tx1"/>
                </a:solidFill>
                <a:effectLst/>
              </a:rPr>
              <a:t>tokens</a:t>
            </a:r>
            <a:r>
              <a:rPr lang="zh-CN" altLang="en-US" sz="900" b="1" dirty="0">
                <a:solidFill>
                  <a:schemeClr val="tx1"/>
                </a:solidFill>
                <a:latin typeface="Microsoft YaHei"/>
              </a:rPr>
              <a:t>）</a:t>
            </a:r>
            <a:r>
              <a:rPr sz="900" b="1" dirty="0">
                <a:solidFill>
                  <a:schemeClr val="tx1"/>
                </a:solidFill>
                <a:latin typeface="Microsoft YaHei"/>
              </a:rPr>
              <a:t>，</a:t>
            </a:r>
            <a:endParaRPr lang="en-US" sz="900" b="1" dirty="0">
              <a:solidFill>
                <a:schemeClr val="tx1"/>
              </a:solidFill>
              <a:latin typeface="Microsoft YaHei"/>
            </a:endParaRPr>
          </a:p>
          <a:p>
            <a:r>
              <a:rPr sz="900" b="1" dirty="0" err="1">
                <a:solidFill>
                  <a:schemeClr val="tx1"/>
                </a:solidFill>
                <a:latin typeface="Microsoft YaHei"/>
              </a:rPr>
              <a:t>生成token</a:t>
            </a:r>
            <a:r>
              <a:rPr lang="zh-CN" altLang="en-US" sz="900" b="1" dirty="0">
                <a:solidFill>
                  <a:schemeClr val="tx1"/>
                </a:solidFill>
                <a:latin typeface="Microsoft YaHei"/>
              </a:rPr>
              <a:t>：</a:t>
            </a:r>
            <a:r>
              <a:rPr sz="900" b="1" dirty="0" err="1">
                <a:solidFill>
                  <a:schemeClr val="tx1"/>
                </a:solidFill>
                <a:latin typeface="Microsoft YaHei"/>
              </a:rPr>
              <a:t>全注意力</a:t>
            </a:r>
            <a:endParaRPr sz="900" b="1" dirty="0">
              <a:solidFill>
                <a:schemeClr val="tx1"/>
              </a:solidFill>
              <a:latin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37619" y="3623942"/>
            <a:ext cx="1051560" cy="5303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损失函数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89179" y="3623942"/>
            <a:ext cx="4096512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扩散损失（噪声预测）+ 感知对齐损失（像素感知）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7619" y="4238182"/>
            <a:ext cx="5148072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A73E8"/>
                </a:solidFill>
                <a:latin typeface="Microsoft YaHei"/>
              </a:rPr>
              <a:t>核心要点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7619" y="4558222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消除传统模块化架构依赖</a:t>
            </a:r>
          </a:p>
        </p:txBody>
      </p:sp>
      <p:sp>
        <p:nvSpPr>
          <p:cNvPr id="43" name="Oval 42"/>
          <p:cNvSpPr/>
          <p:nvPr/>
        </p:nvSpPr>
        <p:spPr>
          <a:xfrm>
            <a:off x="529059" y="4649662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4" name="Rounded Rectangle 43"/>
          <p:cNvSpPr/>
          <p:nvPr/>
        </p:nvSpPr>
        <p:spPr>
          <a:xfrm>
            <a:off x="437619" y="5161725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 dirty="0" err="1">
                <a:solidFill>
                  <a:srgbClr val="1F2A44"/>
                </a:solidFill>
                <a:latin typeface="Microsoft YaHei"/>
              </a:rPr>
              <a:t>生成tokens关注所有tokens，全局上下文聚合</a:t>
            </a:r>
            <a:r>
              <a:rPr lang="en-US" sz="1000" b="1" dirty="0">
                <a:solidFill>
                  <a:srgbClr val="1F2A44"/>
                </a:solidFill>
                <a:latin typeface="Microsoft YaHei"/>
              </a:rPr>
              <a:t>------</a:t>
            </a:r>
            <a:r>
              <a:rPr lang="zh-CN" altLang="en-US" sz="1000" b="1" dirty="0">
                <a:solidFill>
                  <a:srgbClr val="FF0000"/>
                </a:solidFill>
                <a:latin typeface="Microsoft YaHei"/>
              </a:rPr>
              <a:t>自回归模型思想</a:t>
            </a:r>
            <a:endParaRPr sz="1000" b="1" dirty="0">
              <a:solidFill>
                <a:srgbClr val="FF0000"/>
              </a:solidFill>
              <a:latin typeface="Microsoft YaHei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529059" y="5253165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6" name="Rounded Rectangle 45"/>
          <p:cNvSpPr/>
          <p:nvPr/>
        </p:nvSpPr>
        <p:spPr>
          <a:xfrm>
            <a:off x="437619" y="5765228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 dirty="0" err="1">
                <a:solidFill>
                  <a:srgbClr val="1F2A44"/>
                </a:solidFill>
                <a:latin typeface="Microsoft YaHei"/>
              </a:rPr>
              <a:t>扩散损失</a:t>
            </a:r>
            <a:r>
              <a:rPr lang="en-US" sz="1000" b="1" dirty="0">
                <a:solidFill>
                  <a:srgbClr val="1F2A44"/>
                </a:solidFill>
                <a:latin typeface="Microsoft YaHei"/>
              </a:rPr>
              <a:t>(</a:t>
            </a:r>
            <a:r>
              <a:rPr lang="zh-CN" altLang="en-US" sz="1000" b="1" dirty="0">
                <a:solidFill>
                  <a:srgbClr val="1F2A44"/>
                </a:solidFill>
                <a:latin typeface="Microsoft YaHei"/>
              </a:rPr>
              <a:t>预测干净图像块或噪声</a:t>
            </a:r>
            <a:r>
              <a:rPr lang="en-US" sz="1000" b="1" dirty="0">
                <a:solidFill>
                  <a:srgbClr val="1F2A44"/>
                </a:solidFill>
                <a:latin typeface="Microsoft YaHei"/>
              </a:rPr>
              <a:t>)</a:t>
            </a:r>
            <a:r>
              <a:rPr sz="1000" b="1" dirty="0">
                <a:solidFill>
                  <a:srgbClr val="1F2A44"/>
                </a:solidFill>
                <a:latin typeface="Microsoft YaHei"/>
              </a:rPr>
              <a:t> + </a:t>
            </a:r>
            <a:r>
              <a:rPr sz="1000" b="1" dirty="0" err="1">
                <a:solidFill>
                  <a:srgbClr val="1F2A44"/>
                </a:solidFill>
                <a:latin typeface="Microsoft YaHei"/>
              </a:rPr>
              <a:t>感知对齐损失联合优化</a:t>
            </a:r>
            <a:endParaRPr sz="10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529059" y="5856668"/>
            <a:ext cx="109728" cy="10972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9" name="TextBox 48"/>
          <p:cNvSpPr txBox="1"/>
          <p:nvPr/>
        </p:nvSpPr>
        <p:spPr>
          <a:xfrm>
            <a:off x="8414057" y="6390778"/>
            <a:ext cx="1897796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5A6577"/>
                </a:solidFill>
                <a:latin typeface="Microsoft YaHei"/>
              </a:rPr>
              <a:t>HiDream-O1 </a:t>
            </a:r>
            <a:r>
              <a:rPr sz="900" b="1" dirty="0" err="1">
                <a:solidFill>
                  <a:srgbClr val="5A6577"/>
                </a:solidFill>
                <a:latin typeface="Microsoft YaHei"/>
              </a:rPr>
              <a:t>模型架构</a:t>
            </a:r>
            <a:endParaRPr sz="900" b="1" dirty="0">
              <a:solidFill>
                <a:srgbClr val="5A6577"/>
              </a:solidFill>
              <a:latin typeface="Microsoft YaHei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548640" y="457200"/>
            <a:ext cx="73152" cy="38404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51" name="Rectangle 50"/>
          <p:cNvSpPr/>
          <p:nvPr/>
        </p:nvSpPr>
        <p:spPr>
          <a:xfrm>
            <a:off x="548640" y="1207008"/>
            <a:ext cx="11091672" cy="9525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52" name="Rounded Rectangle 51"/>
          <p:cNvSpPr/>
          <p:nvPr/>
        </p:nvSpPr>
        <p:spPr>
          <a:xfrm>
            <a:off x="437619" y="1390157"/>
            <a:ext cx="2028490" cy="310896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Microsoft YaHei"/>
              </a:rPr>
              <a:t>Decoder-only Transformer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73152" cy="38404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10058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dirty="0" err="1">
                <a:solidFill>
                  <a:srgbClr val="1F2A44"/>
                </a:solidFill>
                <a:latin typeface="Microsoft YaHei"/>
              </a:rPr>
              <a:t>Boogu</a:t>
            </a:r>
            <a:r>
              <a:rPr sz="2400" b="1" dirty="0">
                <a:solidFill>
                  <a:srgbClr val="1F2A44"/>
                </a:solidFill>
                <a:latin typeface="Microsoft YaHei"/>
              </a:rPr>
              <a:t>-Image</a:t>
            </a:r>
            <a:r>
              <a:rPr lang="en-US" sz="2400" b="1" dirty="0">
                <a:solidFill>
                  <a:srgbClr val="1F2A44"/>
                </a:solidFill>
                <a:latin typeface="Microsoft YaHei"/>
              </a:rPr>
              <a:t>-------</a:t>
            </a:r>
            <a:r>
              <a:rPr lang="zh-CN" altLang="en-US" sz="2400" b="1" dirty="0">
                <a:solidFill>
                  <a:srgbClr val="1F2A44"/>
                </a:solidFill>
                <a:latin typeface="Microsoft YaHei"/>
              </a:rPr>
              <a:t>尚未发布技术报告，根据模型文件猜测</a:t>
            </a:r>
            <a:endParaRPr sz="24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025713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err="1">
                <a:solidFill>
                  <a:srgbClr val="5A6577"/>
                </a:solidFill>
                <a:latin typeface="Microsoft YaHei"/>
              </a:rPr>
              <a:t>FlowMatch</a:t>
            </a:r>
            <a:r>
              <a:rPr sz="1200" b="1" dirty="0">
                <a:solidFill>
                  <a:srgbClr val="5A6577"/>
                </a:solidFill>
                <a:latin typeface="Microsoft YaHei"/>
              </a:rPr>
              <a:t> · </a:t>
            </a:r>
            <a:r>
              <a:rPr sz="1200" b="1" dirty="0" err="1">
                <a:solidFill>
                  <a:srgbClr val="5A6577"/>
                </a:solidFill>
                <a:latin typeface="Microsoft YaHei"/>
              </a:rPr>
              <a:t>指令遵循能力提升</a:t>
            </a:r>
            <a:endParaRPr sz="1200" b="1" dirty="0">
              <a:solidFill>
                <a:srgbClr val="5A6577"/>
              </a:solidFill>
              <a:latin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65513" y="1655064"/>
            <a:ext cx="11091672" cy="9525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6" name="Rounded Rectangle 5"/>
          <p:cNvSpPr/>
          <p:nvPr/>
        </p:nvSpPr>
        <p:spPr>
          <a:xfrm>
            <a:off x="548639" y="1408176"/>
            <a:ext cx="1288473" cy="310896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Microsoft YaHei"/>
              </a:rPr>
              <a:t>统一理解与生成</a:t>
            </a:r>
            <a:endParaRPr sz="11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65513" y="1911096"/>
            <a:ext cx="548640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0" rIns="137160" rtlCol="0" anchor="ctr"/>
          <a:lstStyle/>
          <a:p>
            <a:pPr algn="ctr"/>
            <a:r>
              <a:rPr sz="1100" b="1">
                <a:solidFill>
                  <a:srgbClr val="1F2A44"/>
                </a:solidFill>
                <a:latin typeface="Microsoft YaHei"/>
              </a:rPr>
              <a:t>Qwen3VLProcessor → DiT → VAE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5513" y="1911096"/>
            <a:ext cx="1371600" cy="74980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4572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处理流程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513" y="2734056"/>
            <a:ext cx="548640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0" rIns="137160" rtlCol="0" anchor="ctr"/>
          <a:lstStyle/>
          <a:p>
            <a:pPr algn="ctr"/>
            <a:r>
              <a:rPr sz="1100" b="1">
                <a:solidFill>
                  <a:srgbClr val="1F2A44"/>
                </a:solidFill>
                <a:latin typeface="Microsoft YaHei"/>
              </a:rPr>
              <a:t>Qwen3VLProcessor 对文本和图像进行特征提取，生成条件嵌入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5513" y="2734056"/>
            <a:ext cx="1371600" cy="74980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4572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特征提取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5513" y="3557016"/>
            <a:ext cx="548640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0" rIns="137160" rtlCol="0" anchor="ctr"/>
          <a:lstStyle/>
          <a:p>
            <a:pPr algn="ctr"/>
            <a:r>
              <a:rPr sz="1100" b="1">
                <a:solidFill>
                  <a:srgbClr val="1F2A44"/>
                </a:solidFill>
                <a:latin typeface="Microsoft YaHei"/>
              </a:rPr>
              <a:t>Flow Matching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5513" y="3557016"/>
            <a:ext cx="1371600" cy="74980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4572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扩散模型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513" y="4379976"/>
            <a:ext cx="548640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0" rIns="137160" rtlCol="0" anchor="ctr"/>
          <a:lstStyle/>
          <a:p>
            <a:pPr algn="ctr"/>
            <a:r>
              <a:rPr sz="1100" b="1">
                <a:solidFill>
                  <a:srgbClr val="1F2A44"/>
                </a:solidFill>
                <a:latin typeface="Microsoft YaHei"/>
              </a:rPr>
              <a:t>统一理解与生成系统，提升指令遵循能力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5513" y="4379976"/>
            <a:ext cx="1371600" cy="74980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4572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1953" y="1865376"/>
            <a:ext cx="53035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核心要点 / Key Highlights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1953" y="2276856"/>
            <a:ext cx="5285232" cy="813816"/>
          </a:xfrm>
          <a:prstGeom prst="roundRect">
            <a:avLst/>
          </a:prstGeom>
          <a:solidFill>
            <a:srgbClr val="F0F5FF"/>
          </a:solidFill>
          <a:ln w="635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rIns="137160" rtlCol="0" anchor="ctr"/>
          <a:lstStyle/>
          <a:p>
            <a:pPr algn="ctr"/>
            <a:r>
              <a:rPr sz="1100" b="1">
                <a:solidFill>
                  <a:srgbClr val="1F2A44"/>
                </a:solidFill>
                <a:latin typeface="Microsoft YaHei"/>
              </a:rPr>
              <a:t>使用 Qwen3VLProcessor 统一处理文本与图像输入</a:t>
            </a:r>
          </a:p>
        </p:txBody>
      </p:sp>
      <p:sp>
        <p:nvSpPr>
          <p:cNvPr id="17" name="Oval 16"/>
          <p:cNvSpPr/>
          <p:nvPr/>
        </p:nvSpPr>
        <p:spPr>
          <a:xfrm>
            <a:off x="6409113" y="2404872"/>
            <a:ext cx="128016" cy="12801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18" name="Rounded Rectangle 17"/>
          <p:cNvSpPr/>
          <p:nvPr/>
        </p:nvSpPr>
        <p:spPr>
          <a:xfrm>
            <a:off x="6271953" y="3200400"/>
            <a:ext cx="5285232" cy="612648"/>
          </a:xfrm>
          <a:prstGeom prst="roundRect">
            <a:avLst/>
          </a:prstGeom>
          <a:solidFill>
            <a:srgbClr val="F0F5FF"/>
          </a:solidFill>
          <a:ln w="635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rIns="137160" rtlCol="0" anchor="ctr"/>
          <a:lstStyle/>
          <a:p>
            <a:pPr algn="ctr"/>
            <a:r>
              <a:rPr sz="1100" b="1">
                <a:solidFill>
                  <a:srgbClr val="1F2A44"/>
                </a:solidFill>
                <a:latin typeface="Microsoft YaHei"/>
              </a:rPr>
              <a:t>Flow Matching 作为扩散训练目标</a:t>
            </a:r>
          </a:p>
        </p:txBody>
      </p:sp>
      <p:sp>
        <p:nvSpPr>
          <p:cNvPr id="19" name="Oval 18"/>
          <p:cNvSpPr/>
          <p:nvPr/>
        </p:nvSpPr>
        <p:spPr>
          <a:xfrm>
            <a:off x="6409113" y="3328416"/>
            <a:ext cx="128016" cy="12801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0" name="Rounded Rectangle 19"/>
          <p:cNvSpPr/>
          <p:nvPr/>
        </p:nvSpPr>
        <p:spPr>
          <a:xfrm>
            <a:off x="6271953" y="3922776"/>
            <a:ext cx="5285232" cy="612648"/>
          </a:xfrm>
          <a:prstGeom prst="roundRect">
            <a:avLst/>
          </a:prstGeom>
          <a:solidFill>
            <a:srgbClr val="F0F5FF"/>
          </a:solidFill>
          <a:ln w="635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rIns="137160" rtlCol="0" anchor="ctr"/>
          <a:lstStyle/>
          <a:p>
            <a:pPr algn="ctr"/>
            <a:r>
              <a:rPr sz="1100" b="1">
                <a:solidFill>
                  <a:srgbClr val="1F2A44"/>
                </a:solidFill>
                <a:latin typeface="Microsoft YaHei"/>
              </a:rPr>
              <a:t>统一理解与生成，增强指令遵循</a:t>
            </a:r>
          </a:p>
        </p:txBody>
      </p:sp>
      <p:sp>
        <p:nvSpPr>
          <p:cNvPr id="21" name="Oval 20"/>
          <p:cNvSpPr/>
          <p:nvPr/>
        </p:nvSpPr>
        <p:spPr>
          <a:xfrm>
            <a:off x="6409113" y="4050792"/>
            <a:ext cx="128016" cy="12801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914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>
                <a:solidFill>
                  <a:srgbClr val="5A6577"/>
                </a:solidFill>
                <a:latin typeface="Microsoft YaHe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73152" cy="38404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Microsoft YaHei"/>
              </a:rPr>
              <a:t>扩散模型小结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8686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A6577"/>
                </a:solidFill>
                <a:latin typeface="Microsoft YaHei"/>
              </a:rPr>
              <a:t>Part 1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1091672" cy="9525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1208" y="1382318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 err="1">
                <a:solidFill>
                  <a:srgbClr val="1A73E8"/>
                </a:solidFill>
                <a:latin typeface="Microsoft YaHei"/>
              </a:rPr>
              <a:t>共性趋势</a:t>
            </a:r>
            <a:endParaRPr sz="1600" b="1" dirty="0">
              <a:solidFill>
                <a:srgbClr val="1A73E8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81215" y="1874519"/>
            <a:ext cx="5614785" cy="11599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200" b="0" dirty="0">
                <a:solidFill>
                  <a:srgbClr val="1F2A44"/>
                </a:solidFill>
                <a:latin typeface="Microsoft YaHei"/>
              </a:rPr>
              <a:t>• </a:t>
            </a:r>
            <a:r>
              <a:rPr sz="1200" b="0" dirty="0" err="1">
                <a:solidFill>
                  <a:srgbClr val="1F2A44"/>
                </a:solidFill>
                <a:latin typeface="Microsoft YaHei"/>
              </a:rPr>
              <a:t>普遍摒弃</a:t>
            </a:r>
            <a:r>
              <a:rPr sz="1200" b="0" dirty="0">
                <a:solidFill>
                  <a:srgbClr val="1F2A44"/>
                </a:solidFill>
                <a:latin typeface="Microsoft YaHei"/>
              </a:rPr>
              <a:t> CLIP、T5 </a:t>
            </a:r>
            <a:r>
              <a:rPr sz="1200" b="0" dirty="0" err="1">
                <a:solidFill>
                  <a:srgbClr val="1F2A44"/>
                </a:solidFill>
                <a:latin typeface="Microsoft YaHei"/>
              </a:rPr>
              <a:t>等传统</a:t>
            </a:r>
            <a:r>
              <a:rPr sz="1200" b="0" dirty="0">
                <a:solidFill>
                  <a:srgbClr val="1F2A44"/>
                </a:solidFill>
                <a:latin typeface="Microsoft YaHei"/>
              </a:rPr>
              <a:t> text </a:t>
            </a:r>
            <a:r>
              <a:rPr sz="1200" b="0" dirty="0" err="1">
                <a:solidFill>
                  <a:srgbClr val="1F2A44"/>
                </a:solidFill>
                <a:latin typeface="Microsoft YaHei"/>
              </a:rPr>
              <a:t>encoder，转而采用</a:t>
            </a:r>
            <a:r>
              <a:rPr sz="1200" b="0" dirty="0">
                <a:solidFill>
                  <a:srgbClr val="1F2A44"/>
                </a:solidFill>
                <a:latin typeface="Microsoft YaHei"/>
              </a:rPr>
              <a:t> Qwen3-VL </a:t>
            </a:r>
            <a:r>
              <a:rPr sz="1200" b="0" dirty="0" err="1">
                <a:solidFill>
                  <a:srgbClr val="1F2A44"/>
                </a:solidFill>
                <a:latin typeface="Microsoft YaHei"/>
              </a:rPr>
              <a:t>等视觉语言模型</a:t>
            </a:r>
            <a:endParaRPr sz="1200" b="0" dirty="0">
              <a:solidFill>
                <a:srgbClr val="1F2A44"/>
              </a:solidFill>
              <a:latin typeface="Microsoft YaHei"/>
            </a:endParaRP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200" b="0" dirty="0">
                <a:solidFill>
                  <a:srgbClr val="1F2A44"/>
                </a:solidFill>
                <a:latin typeface="Microsoft YaHei"/>
              </a:rPr>
              <a:t>• </a:t>
            </a:r>
            <a:r>
              <a:rPr sz="1200" b="0" dirty="0" err="1">
                <a:solidFill>
                  <a:srgbClr val="1F2A44"/>
                </a:solidFill>
                <a:latin typeface="Microsoft YaHei"/>
              </a:rPr>
              <a:t>普遍采用单流</a:t>
            </a:r>
            <a:r>
              <a:rPr sz="1200" b="0" dirty="0">
                <a:solidFill>
                  <a:srgbClr val="1F2A44"/>
                </a:solidFill>
                <a:latin typeface="Microsoft YaHei"/>
              </a:rPr>
              <a:t> </a:t>
            </a:r>
            <a:r>
              <a:rPr sz="1200" b="0" dirty="0" err="1">
                <a:solidFill>
                  <a:srgbClr val="1F2A44"/>
                </a:solidFill>
                <a:latin typeface="Microsoft YaHei"/>
              </a:rPr>
              <a:t>DiT</a:t>
            </a:r>
            <a:r>
              <a:rPr sz="1200" b="0" dirty="0">
                <a:solidFill>
                  <a:srgbClr val="1F2A44"/>
                </a:solidFill>
                <a:latin typeface="Microsoft YaHei"/>
              </a:rPr>
              <a:t> </a:t>
            </a:r>
            <a:r>
              <a:rPr sz="1200" b="0" dirty="0" err="1">
                <a:solidFill>
                  <a:srgbClr val="1F2A44"/>
                </a:solidFill>
                <a:latin typeface="Microsoft YaHei"/>
              </a:rPr>
              <a:t>整合所有信息：文本、图像、语义</a:t>
            </a:r>
            <a:r>
              <a:rPr sz="1200" b="0" dirty="0">
                <a:solidFill>
                  <a:srgbClr val="1F2A44"/>
                </a:solidFill>
                <a:latin typeface="Microsoft YaHei"/>
              </a:rPr>
              <a:t> Tokens </a:t>
            </a:r>
            <a:r>
              <a:rPr sz="1200" b="0" dirty="0" err="1">
                <a:solidFill>
                  <a:srgbClr val="1F2A44"/>
                </a:solidFill>
                <a:latin typeface="Microsoft YaHei"/>
              </a:rPr>
              <a:t>在序列维度直接拼接</a:t>
            </a:r>
            <a:endParaRPr sz="1200" b="0" dirty="0">
              <a:solidFill>
                <a:srgbClr val="1F2A44"/>
              </a:solidFill>
              <a:latin typeface="Microsoft YaHei"/>
            </a:endParaRP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200" b="0" dirty="0">
                <a:solidFill>
                  <a:srgbClr val="1F2A44"/>
                </a:solidFill>
                <a:latin typeface="Microsoft YaHei"/>
              </a:rPr>
              <a:t>• </a:t>
            </a:r>
            <a:r>
              <a:rPr sz="1200" b="0" dirty="0" err="1">
                <a:solidFill>
                  <a:srgbClr val="1F2A44"/>
                </a:solidFill>
                <a:latin typeface="Microsoft YaHei"/>
              </a:rPr>
              <a:t>单流架构减少信息交叉损失，提升跨模态对齐效率</a:t>
            </a:r>
            <a:endParaRPr sz="1200" b="0" dirty="0">
              <a:solidFill>
                <a:srgbClr val="1F2A44"/>
              </a:solidFill>
              <a:latin typeface="Microsoft YaHei"/>
            </a:endParaRP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200" b="0" dirty="0">
                <a:solidFill>
                  <a:srgbClr val="1F2A44"/>
                </a:solidFill>
                <a:latin typeface="Microsoft YaHei"/>
              </a:rPr>
              <a:t>• </a:t>
            </a:r>
            <a:r>
              <a:rPr sz="1200" b="0" dirty="0" err="1">
                <a:solidFill>
                  <a:srgbClr val="1F2A44"/>
                </a:solidFill>
                <a:latin typeface="Microsoft YaHei"/>
              </a:rPr>
              <a:t>统一多任务能力：生成、编辑、理解整合到单一架构</a:t>
            </a:r>
            <a:endParaRPr sz="1200" b="0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43840" y="4005072"/>
            <a:ext cx="6074815" cy="164592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481215" y="4172347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D47A1"/>
                </a:solidFill>
                <a:latin typeface="Microsoft YaHei"/>
              </a:rPr>
              <a:t>关键洞察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215" y="4712100"/>
            <a:ext cx="5595759" cy="6001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1F2A44"/>
                </a:solidFill>
                <a:latin typeface="Microsoft YaHei"/>
              </a:rPr>
              <a:t>从「双流架构</a:t>
            </a:r>
            <a:r>
              <a:rPr sz="1300" b="0" dirty="0">
                <a:solidFill>
                  <a:srgbClr val="1F2A44"/>
                </a:solidFill>
                <a:latin typeface="Microsoft YaHei"/>
              </a:rPr>
              <a:t> + </a:t>
            </a:r>
            <a:r>
              <a:rPr sz="1300" b="0" dirty="0" err="1">
                <a:solidFill>
                  <a:srgbClr val="1F2A44"/>
                </a:solidFill>
                <a:latin typeface="Microsoft YaHei"/>
              </a:rPr>
              <a:t>独立编码器」走向「单流</a:t>
            </a:r>
            <a:r>
              <a:rPr sz="1300" b="0" dirty="0">
                <a:solidFill>
                  <a:srgbClr val="1F2A44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1F2A44"/>
                </a:solidFill>
                <a:latin typeface="Microsoft YaHei"/>
              </a:rPr>
              <a:t>DiT</a:t>
            </a:r>
            <a:r>
              <a:rPr sz="1300" b="0" dirty="0">
                <a:solidFill>
                  <a:srgbClr val="1F2A44"/>
                </a:solidFill>
                <a:latin typeface="Microsoft YaHei"/>
              </a:rPr>
              <a:t> + </a:t>
            </a:r>
            <a:r>
              <a:rPr sz="1300" b="0" dirty="0" err="1">
                <a:solidFill>
                  <a:srgbClr val="1F2A44"/>
                </a:solidFill>
                <a:latin typeface="Microsoft YaHei"/>
              </a:rPr>
              <a:t>多模态大模型统一编码</a:t>
            </a:r>
            <a:r>
              <a:rPr sz="1300" b="0" dirty="0">
                <a:solidFill>
                  <a:srgbClr val="1F2A44"/>
                </a:solidFill>
                <a:latin typeface="Microsoft YaHei"/>
              </a:rPr>
              <a:t>」，</a:t>
            </a:r>
            <a:r>
              <a:rPr sz="1300" b="0" dirty="0" err="1">
                <a:solidFill>
                  <a:srgbClr val="1F2A44"/>
                </a:solidFill>
                <a:latin typeface="Microsoft YaHei"/>
              </a:rPr>
              <a:t>是当前扩散类图像生成模型的共同演进方向。信息在序列维度直接拼接，最大化参数复用与跨模态对齐，减少信息交叉损失</a:t>
            </a:r>
            <a:r>
              <a:rPr sz="1300" b="0" dirty="0">
                <a:solidFill>
                  <a:srgbClr val="1F2A44"/>
                </a:solidFill>
                <a:latin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5A6577"/>
                </a:solidFill>
                <a:latin typeface="Microsoft YaHei"/>
              </a:rPr>
              <a:t>10 / 19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CE1F9FA1-B679-808C-9F2B-D1C7141ED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49" y="1839518"/>
            <a:ext cx="5742047" cy="3996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FDCFF"/>
                </a:solidFill>
                <a:latin typeface="Microsoft YaHei"/>
              </a:rPr>
              <a:t>PART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37160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</a:rPr>
              <a:t>基于自回归 + 扩散的模型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FDCFF"/>
                </a:solidFill>
                <a:latin typeface="Microsoft YaHei"/>
              </a:rPr>
              <a:t>Autoregressive + Diffusion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ECF2FF"/>
                </a:solidFill>
                <a:latin typeface="Microsoft YaHei"/>
              </a:rPr>
              <a:t>HunyuanImage-3 · SenseNova-U1 · GLM-Image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9808" y="420624"/>
            <a:ext cx="10058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Microsoft YaHei"/>
              </a:rPr>
              <a:t>HunyuanImage-3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92123"/>
            <a:ext cx="1386702" cy="310896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 dirty="0" err="1">
                <a:solidFill>
                  <a:srgbClr val="FFFFFF"/>
                </a:solidFill>
                <a:latin typeface="Microsoft YaHei"/>
              </a:rPr>
              <a:t>MoE</a:t>
            </a:r>
            <a:r>
              <a:rPr sz="1000" b="1" dirty="0">
                <a:solidFill>
                  <a:srgbClr val="FFFFFF"/>
                </a:solidFill>
                <a:latin typeface="Microsoft YaHei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Microsoft YaHei"/>
              </a:rPr>
              <a:t>混合架构</a:t>
            </a:r>
            <a:endParaRPr sz="1000" b="1" dirty="0">
              <a:solidFill>
                <a:srgbClr val="FFFFFF"/>
              </a:solidFill>
              <a:latin typeface="Microsoft YaHei"/>
            </a:endParaRPr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293DD6F2-AE11-C51A-3A42-7C8C89F1A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576" y="3749037"/>
            <a:ext cx="8728025" cy="2864453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48640" y="1463040"/>
            <a:ext cx="1051560" cy="530352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骨干模型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0199" y="1463040"/>
            <a:ext cx="5013035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基于 Hunyuan-A13B（MoE，总参数 &gt;80B）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2048255"/>
            <a:ext cx="1051560" cy="530352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输入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00200" y="2048255"/>
            <a:ext cx="5013036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r>
              <a:rPr lang="zh-CN" altLang="en-US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文本</a:t>
            </a:r>
            <a:r>
              <a:rPr lang="en-US" altLang="zh-CN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tokens</a:t>
            </a:r>
            <a:r>
              <a:rPr lang="zh-CN" altLang="en-US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（</a:t>
            </a:r>
            <a:r>
              <a:rPr lang="zh-CN" altLang="en-US" sz="9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900" b="1" dirty="0" err="1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Hunyuan</a:t>
            </a:r>
            <a:r>
              <a:rPr lang="en-US" altLang="zh-CN" sz="9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 Tokenizer + </a:t>
            </a:r>
            <a:r>
              <a:rPr lang="zh-CN" altLang="en-US" sz="9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特殊 </a:t>
            </a:r>
            <a:r>
              <a:rPr lang="en-US" altLang="zh-CN" sz="9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9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zh-CN" altLang="en-US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视觉条件（</a:t>
            </a:r>
            <a:r>
              <a:rPr lang="en-US" altLang="zh-CN" sz="900" b="1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VAE + </a:t>
            </a:r>
            <a:r>
              <a:rPr lang="zh-CN" altLang="en-US" sz="900" b="1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视觉编码器双</a:t>
            </a:r>
            <a:r>
              <a:rPr lang="en-US" altLang="zh-CN" sz="900" b="1" dirty="0">
                <a:solidFill>
                  <a:srgbClr val="DD191D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SigLip-2</a:t>
            </a:r>
            <a:r>
              <a:rPr lang="zh-CN" altLang="en-US" sz="900" b="1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路径</a:t>
            </a:r>
            <a:r>
              <a:rPr lang="zh-CN" altLang="en-US" sz="9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  <a:p>
            <a:r>
              <a:rPr lang="zh-CN" altLang="en-US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 </a:t>
            </a:r>
            <a:r>
              <a:rPr lang="en-US" altLang="zh-CN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</a:t>
            </a:r>
            <a:r>
              <a:rPr lang="en-US" altLang="zh-CN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tokens</a:t>
            </a:r>
            <a:r>
              <a:rPr lang="zh-CN" altLang="en-US" sz="9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（噪声图像 </a:t>
            </a:r>
            <a:r>
              <a:rPr lang="en-US" altLang="zh-CN" sz="9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patches</a:t>
            </a:r>
            <a:r>
              <a:rPr lang="zh-CN" altLang="en-US" sz="9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步长嵌入，统一序列</a:t>
            </a:r>
            <a:r>
              <a:rPr lang="en-US" altLang="zh-CN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9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广义因果注意力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633470"/>
            <a:ext cx="1051560" cy="530352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输出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600200" y="2633470"/>
            <a:ext cx="5013036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 err="1">
                <a:solidFill>
                  <a:srgbClr val="1F2A44"/>
                </a:solidFill>
                <a:latin typeface="Microsoft YaHei"/>
              </a:rPr>
              <a:t>预测干净图像patches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 → 重组；2D 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RoPE自动分辨率控制</a:t>
            </a:r>
            <a:endParaRPr sz="9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48640" y="3218685"/>
            <a:ext cx="1051560" cy="530352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损失函数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600200" y="3218685"/>
            <a:ext cx="5013036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 err="1">
                <a:solidFill>
                  <a:srgbClr val="1F2A44"/>
                </a:solidFill>
                <a:latin typeface="Microsoft YaHei"/>
              </a:rPr>
              <a:t>预训练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: 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自回归+扩散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 </a:t>
            </a:r>
            <a:r>
              <a:rPr lang="en-US" sz="900" b="1" dirty="0">
                <a:solidFill>
                  <a:srgbClr val="1F2A44"/>
                </a:solidFill>
                <a:latin typeface="Microsoft YaHei"/>
              </a:rPr>
              <a:t>     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 </a:t>
            </a:r>
            <a:r>
              <a:rPr lang="en-US" sz="900" b="1" dirty="0">
                <a:solidFill>
                  <a:srgbClr val="1F2A44"/>
                </a:solidFill>
                <a:latin typeface="Microsoft YaHei"/>
              </a:rPr>
              <a:t>          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后训练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: SFT/DPO/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MixGRPO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/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ReDA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 · 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蒸馏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: 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MeanFlow</a:t>
            </a:r>
            <a:endParaRPr sz="9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917113" y="1463040"/>
            <a:ext cx="5148072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B1FA2"/>
                </a:solidFill>
                <a:latin typeface="Microsoft YaHei"/>
              </a:rPr>
              <a:t>核心要点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17113" y="1783080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 dirty="0" err="1">
                <a:solidFill>
                  <a:srgbClr val="1F2A44"/>
                </a:solidFill>
                <a:latin typeface="Microsoft YaHei"/>
              </a:rPr>
              <a:t>自回归损失</a:t>
            </a:r>
            <a:r>
              <a:rPr lang="zh-CN" altLang="en-US" sz="1000" b="0" i="0" dirty="0">
                <a:solidFill>
                  <a:srgbClr val="121213"/>
                </a:solidFill>
                <a:effectLst/>
                <a:latin typeface="winfonts"/>
              </a:rPr>
              <a:t>（文本）</a:t>
            </a:r>
            <a:r>
              <a:rPr sz="1000" b="1" dirty="0">
                <a:solidFill>
                  <a:srgbClr val="1F2A44"/>
                </a:solidFill>
                <a:latin typeface="Microsoft YaHei"/>
              </a:rPr>
              <a:t>+ </a:t>
            </a:r>
            <a:r>
              <a:rPr sz="1000" b="1" dirty="0" err="1">
                <a:solidFill>
                  <a:srgbClr val="1F2A44"/>
                </a:solidFill>
                <a:latin typeface="Microsoft YaHei"/>
              </a:rPr>
              <a:t>扩散</a:t>
            </a:r>
            <a:r>
              <a:rPr lang="zh-CN" altLang="en-US" sz="1000" b="0" i="0" dirty="0">
                <a:solidFill>
                  <a:srgbClr val="121213"/>
                </a:solidFill>
                <a:effectLst/>
                <a:latin typeface="winfonts"/>
              </a:rPr>
              <a:t>（图像）</a:t>
            </a:r>
            <a:r>
              <a:rPr sz="1000" b="1" dirty="0" err="1">
                <a:solidFill>
                  <a:srgbClr val="1F2A44"/>
                </a:solidFill>
                <a:latin typeface="Microsoft YaHei"/>
              </a:rPr>
              <a:t>损失多任务联合优化</a:t>
            </a:r>
            <a:endParaRPr sz="10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7008553" y="1874520"/>
            <a:ext cx="109728" cy="109728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1" name="Rounded Rectangle 40"/>
          <p:cNvSpPr/>
          <p:nvPr/>
        </p:nvSpPr>
        <p:spPr>
          <a:xfrm>
            <a:off x="6917113" y="2386583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后训练：偏好优化(DPO)、强化学习(MixGRPO/SRPO)</a:t>
            </a:r>
          </a:p>
        </p:txBody>
      </p:sp>
      <p:sp>
        <p:nvSpPr>
          <p:cNvPr id="42" name="Oval 41"/>
          <p:cNvSpPr/>
          <p:nvPr/>
        </p:nvSpPr>
        <p:spPr>
          <a:xfrm>
            <a:off x="7008553" y="2478023"/>
            <a:ext cx="109728" cy="109728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3" name="Rounded Rectangle 42"/>
          <p:cNvSpPr/>
          <p:nvPr/>
        </p:nvSpPr>
        <p:spPr>
          <a:xfrm>
            <a:off x="6917113" y="2990086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蒸馏/剪枝：轨迹分布对齐的 MeanFlow</a:t>
            </a:r>
          </a:p>
        </p:txBody>
      </p:sp>
      <p:sp>
        <p:nvSpPr>
          <p:cNvPr id="44" name="Oval 43"/>
          <p:cNvSpPr/>
          <p:nvPr/>
        </p:nvSpPr>
        <p:spPr>
          <a:xfrm>
            <a:off x="7008553" y="3081526"/>
            <a:ext cx="109728" cy="109728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6" name="TextBox 45"/>
          <p:cNvSpPr txBox="1"/>
          <p:nvPr/>
        </p:nvSpPr>
        <p:spPr>
          <a:xfrm>
            <a:off x="456275" y="6656832"/>
            <a:ext cx="1109167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5A6577"/>
                </a:solidFill>
                <a:latin typeface="Microsoft YaHei"/>
              </a:rPr>
              <a:t>HunyuanImage-3 架构：图像理解、语言建模、图像生成三分支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274320"/>
            <a:ext cx="10058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dirty="0">
                <a:solidFill>
                  <a:srgbClr val="1F2A44"/>
                </a:solidFill>
                <a:latin typeface="Microsoft YaHei"/>
              </a:rPr>
              <a:t>SenseNova-U1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29024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5A6577"/>
                </a:solidFill>
                <a:latin typeface="Microsoft YaHei"/>
              </a:rPr>
              <a:t>直接处理原始像素与文本，无需预训练 VE 或 VAE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4877"/>
            <a:ext cx="1391735" cy="310896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 dirty="0" err="1">
                <a:solidFill>
                  <a:srgbClr val="FFFFFF"/>
                </a:solidFill>
                <a:latin typeface="Microsoft YaHei"/>
              </a:rPr>
              <a:t>无VAE</a:t>
            </a:r>
            <a:r>
              <a:rPr sz="1000" b="1" dirty="0">
                <a:solidFill>
                  <a:srgbClr val="FFFFFF"/>
                </a:solidFill>
                <a:latin typeface="Microsoft YaHei"/>
              </a:rPr>
              <a:t> · </a:t>
            </a:r>
            <a:r>
              <a:rPr sz="1000" b="1" dirty="0" err="1">
                <a:solidFill>
                  <a:srgbClr val="FFFFFF"/>
                </a:solidFill>
                <a:latin typeface="Microsoft YaHei"/>
              </a:rPr>
              <a:t>原生像素</a:t>
            </a:r>
            <a:endParaRPr sz="1000" b="1" dirty="0">
              <a:solidFill>
                <a:srgbClr val="FFFFFF"/>
              </a:solidFill>
              <a:latin typeface="Microsoft YaHei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0158D01F-8D4E-6309-184A-49B41114D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3867912"/>
            <a:ext cx="4106169" cy="2651760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B258C26D-23E1-E3AB-7E7E-2686DB021F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5929" y="3858864"/>
            <a:ext cx="7239604" cy="265176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48640" y="1463040"/>
            <a:ext cx="1051560" cy="530352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输入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0200" y="1463040"/>
            <a:ext cx="461772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原生像素与文本；图像经Patch编码层转视觉token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2048255"/>
            <a:ext cx="1051560" cy="530352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VAE替代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00200" y="2048255"/>
            <a:ext cx="461772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 err="1">
                <a:solidFill>
                  <a:srgbClr val="FF0000"/>
                </a:solidFill>
                <a:latin typeface="Microsoft YaHei"/>
              </a:rPr>
              <a:t>两层卷积编码替代VAE</a:t>
            </a:r>
            <a:r>
              <a:rPr sz="900" b="1" dirty="0">
                <a:solidFill>
                  <a:srgbClr val="FF0000"/>
                </a:solidFill>
                <a:latin typeface="Microsoft YaHei"/>
              </a:rPr>
              <a:t> </a:t>
            </a:r>
            <a:r>
              <a:rPr sz="900" b="1" dirty="0" err="1">
                <a:solidFill>
                  <a:srgbClr val="FF0000"/>
                </a:solidFill>
                <a:latin typeface="Microsoft YaHei"/>
              </a:rPr>
              <a:t>encoder；类MLP解码替代VAE</a:t>
            </a:r>
            <a:r>
              <a:rPr sz="900" b="1" dirty="0">
                <a:solidFill>
                  <a:srgbClr val="FF0000"/>
                </a:solidFill>
                <a:latin typeface="Microsoft YaHei"/>
              </a:rPr>
              <a:t> decoder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633470"/>
            <a:ext cx="1051560" cy="530352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输出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600200" y="2633470"/>
            <a:ext cx="461772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理解: 线性投影头输出文本；生成: MLP头预测像素块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218685"/>
            <a:ext cx="1051560" cy="530352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损失函数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600200" y="3218685"/>
            <a:ext cx="461772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自回归下一token预测损失 + Flow Matching loss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1463040"/>
            <a:ext cx="5148072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B1FA2"/>
                </a:solidFill>
                <a:latin typeface="Microsoft YaHei"/>
              </a:rPr>
              <a:t>核心要点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92240" y="1783080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彻底摒弃 VAE：原生像素直接处理</a:t>
            </a:r>
          </a:p>
        </p:txBody>
      </p:sp>
      <p:sp>
        <p:nvSpPr>
          <p:cNvPr id="40" name="Oval 39"/>
          <p:cNvSpPr/>
          <p:nvPr/>
        </p:nvSpPr>
        <p:spPr>
          <a:xfrm>
            <a:off x="6583680" y="1874520"/>
            <a:ext cx="109728" cy="109728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1" name="Rounded Rectangle 40"/>
          <p:cNvSpPr/>
          <p:nvPr/>
        </p:nvSpPr>
        <p:spPr>
          <a:xfrm>
            <a:off x="6492240" y="2386583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两层卷积编码 + 类 MLP 解码，轻量替代</a:t>
            </a:r>
          </a:p>
        </p:txBody>
      </p:sp>
      <p:sp>
        <p:nvSpPr>
          <p:cNvPr id="42" name="Oval 41"/>
          <p:cNvSpPr/>
          <p:nvPr/>
        </p:nvSpPr>
        <p:spPr>
          <a:xfrm>
            <a:off x="6583680" y="2478023"/>
            <a:ext cx="109728" cy="109728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3" name="Rounded Rectangle 42"/>
          <p:cNvSpPr/>
          <p:nvPr/>
        </p:nvSpPr>
        <p:spPr>
          <a:xfrm>
            <a:off x="6492240" y="2990086"/>
            <a:ext cx="5148072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>
                <a:solidFill>
                  <a:srgbClr val="1F2A44"/>
                </a:solidFill>
                <a:latin typeface="Microsoft YaHei"/>
              </a:rPr>
              <a:t>理解与生成任务共用同一骨干</a:t>
            </a:r>
          </a:p>
        </p:txBody>
      </p:sp>
      <p:sp>
        <p:nvSpPr>
          <p:cNvPr id="44" name="Oval 43"/>
          <p:cNvSpPr/>
          <p:nvPr/>
        </p:nvSpPr>
        <p:spPr>
          <a:xfrm>
            <a:off x="6583680" y="3081526"/>
            <a:ext cx="109728" cy="109728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6" name="TextBox 45"/>
          <p:cNvSpPr txBox="1"/>
          <p:nvPr/>
        </p:nvSpPr>
        <p:spPr>
          <a:xfrm>
            <a:off x="456809" y="6554311"/>
            <a:ext cx="438912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5A6577"/>
                </a:solidFill>
                <a:latin typeface="Microsoft YaHei"/>
              </a:rPr>
              <a:t>SenseNova-U1 Encoder-Model-Decoder </a:t>
            </a:r>
            <a:r>
              <a:rPr sz="900" b="1" dirty="0" err="1">
                <a:solidFill>
                  <a:srgbClr val="5A6577"/>
                </a:solidFill>
                <a:latin typeface="Microsoft YaHei"/>
              </a:rPr>
              <a:t>结构</a:t>
            </a:r>
            <a:endParaRPr sz="900" b="1" dirty="0">
              <a:solidFill>
                <a:srgbClr val="5A6577"/>
              </a:solidFill>
              <a:latin typeface="Microsoft YaHe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457126" y="6581833"/>
            <a:ext cx="651967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 err="1">
                <a:solidFill>
                  <a:srgbClr val="5A6577"/>
                </a:solidFill>
                <a:latin typeface="Microsoft YaHei"/>
              </a:rPr>
              <a:t>三种架构对比（Sequential</a:t>
            </a:r>
            <a:r>
              <a:rPr sz="900" b="1" dirty="0">
                <a:solidFill>
                  <a:srgbClr val="5A6577"/>
                </a:solidFill>
                <a:latin typeface="Microsoft YaHei"/>
              </a:rPr>
              <a:t> / Parallel / Parallel Native）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244572"/>
            <a:ext cx="100584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dirty="0">
                <a:solidFill>
                  <a:srgbClr val="1F2A44"/>
                </a:solidFill>
                <a:latin typeface="Microsoft YaHei"/>
              </a:rPr>
              <a:t>GLM-Image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9204" y="784311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err="1">
                <a:solidFill>
                  <a:srgbClr val="5A6577"/>
                </a:solidFill>
                <a:latin typeface="Microsoft YaHei"/>
              </a:rPr>
              <a:t>自回归生成全局语义</a:t>
            </a:r>
            <a:r>
              <a:rPr sz="1200" b="1" dirty="0">
                <a:solidFill>
                  <a:srgbClr val="5A6577"/>
                </a:solidFill>
                <a:latin typeface="Microsoft YaHei"/>
              </a:rPr>
              <a:t> + </a:t>
            </a:r>
            <a:r>
              <a:rPr sz="1200" b="1" dirty="0" err="1">
                <a:solidFill>
                  <a:srgbClr val="5A6577"/>
                </a:solidFill>
                <a:latin typeface="Microsoft YaHei"/>
              </a:rPr>
              <a:t>扩散解码高频细节</a:t>
            </a:r>
            <a:endParaRPr sz="1200" b="1" dirty="0">
              <a:solidFill>
                <a:srgbClr val="5A6577"/>
              </a:solidFill>
              <a:latin typeface="Microsoft YaHe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5961" y="1106422"/>
            <a:ext cx="2381966" cy="310896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 dirty="0" err="1">
                <a:solidFill>
                  <a:srgbClr val="FFFFFF"/>
                </a:solidFill>
                <a:latin typeface="Microsoft YaHei"/>
              </a:rPr>
              <a:t>语义视觉量化</a:t>
            </a:r>
            <a:r>
              <a:rPr sz="1000" b="1" dirty="0">
                <a:solidFill>
                  <a:srgbClr val="FFFFFF"/>
                </a:solidFill>
                <a:latin typeface="Microsoft YaHei"/>
              </a:rPr>
              <a:t> Semantic-VQ</a:t>
            </a: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9A398521-2CBD-A359-C2B4-5B238F489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11" y="3867915"/>
            <a:ext cx="10512528" cy="256032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548640" y="1463040"/>
            <a:ext cx="1051560" cy="530352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自回归部分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00200" y="1463040"/>
            <a:ext cx="461772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GLM-4-9B-0414 初始化（90亿参数），输出 Semantic-VQ 标记序列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048255"/>
            <a:ext cx="1051560" cy="530352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扩散解码器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00200" y="2048255"/>
            <a:ext cx="461772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 dirty="0">
                <a:solidFill>
                  <a:srgbClr val="1F2A44"/>
                </a:solidFill>
                <a:latin typeface="Microsoft YaHei"/>
              </a:rPr>
              <a:t>CogView4 </a:t>
            </a:r>
            <a:r>
              <a:rPr sz="900" b="1" dirty="0" err="1">
                <a:solidFill>
                  <a:srgbClr val="1F2A44"/>
                </a:solidFill>
                <a:latin typeface="Microsoft YaHei"/>
              </a:rPr>
              <a:t>单流</a:t>
            </a:r>
            <a:r>
              <a:rPr sz="900" b="1" dirty="0">
                <a:solidFill>
                  <a:srgbClr val="1F2A44"/>
                </a:solidFill>
                <a:latin typeface="Microsoft YaHei"/>
              </a:rPr>
              <a:t> DiT（70亿参数），输出1024–2048px高保真图像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633470"/>
            <a:ext cx="1051560" cy="530352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核心目标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00200" y="2633470"/>
            <a:ext cx="461772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自回归保证语义对齐，扩散还原高频细节与画质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218685"/>
            <a:ext cx="1051560" cy="530352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文字渲染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00200" y="3218685"/>
            <a:ext cx="461772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l"/>
            <a:r>
              <a:rPr sz="900" b="1">
                <a:solidFill>
                  <a:srgbClr val="1F2A44"/>
                </a:solidFill>
                <a:latin typeface="Microsoft YaHei"/>
              </a:rPr>
              <a:t>通过 Glyph-by-T5 嵌入增强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2804" y="1161287"/>
            <a:ext cx="5148072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B1FA2"/>
                </a:solidFill>
                <a:latin typeface="Microsoft YaHei"/>
              </a:rPr>
              <a:t>核心要点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32804" y="1481327"/>
            <a:ext cx="5648360" cy="53035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r>
              <a:rPr sz="1000" b="1" dirty="0">
                <a:solidFill>
                  <a:srgbClr val="1F2A44"/>
                </a:solidFill>
                <a:latin typeface="Microsoft YaHei"/>
              </a:rPr>
              <a:t>Semantic-VQ </a:t>
            </a:r>
            <a:r>
              <a:rPr sz="1000" b="1" dirty="0" err="1">
                <a:solidFill>
                  <a:srgbClr val="1F2A44"/>
                </a:solidFill>
                <a:latin typeface="Microsoft YaHei"/>
              </a:rPr>
              <a:t>替代</a:t>
            </a:r>
            <a:r>
              <a:rPr sz="1000" b="1" dirty="0">
                <a:solidFill>
                  <a:srgbClr val="1F2A44"/>
                </a:solidFill>
                <a:latin typeface="Microsoft YaHei"/>
              </a:rPr>
              <a:t> </a:t>
            </a:r>
            <a:r>
              <a:rPr sz="1000" b="1" dirty="0" err="1">
                <a:solidFill>
                  <a:srgbClr val="1F2A44"/>
                </a:solidFill>
                <a:latin typeface="Microsoft YaHei"/>
              </a:rPr>
              <a:t>VAE，输出可解释的语义蓝图</a:t>
            </a:r>
            <a:endParaRPr sz="1000" b="1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6524244" y="1572767"/>
            <a:ext cx="109728" cy="109728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38" name="Rounded Rectangle 37"/>
          <p:cNvSpPr/>
          <p:nvPr/>
        </p:nvSpPr>
        <p:spPr>
          <a:xfrm>
            <a:off x="6432803" y="2084830"/>
            <a:ext cx="5648361" cy="786102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pPr algn="l"/>
            <a:endParaRPr lang="en-US" sz="1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sz="10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自回归与扩散顺序执行、功能解耦、不交叉</a:t>
            </a:r>
            <a:endParaRPr lang="en-US" sz="1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sz="1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0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自回归部分只负责生成语义标记，不涉及像素细节</a:t>
            </a:r>
          </a:p>
          <a:p>
            <a:r>
              <a:rPr lang="zh-CN" altLang="en-US" sz="10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扩散部分只负责从语义标记中恢复细节，不参与标记生成</a:t>
            </a:r>
          </a:p>
          <a:p>
            <a:pPr algn="l"/>
            <a:endParaRPr sz="1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27061" y="2461806"/>
            <a:ext cx="109728" cy="109728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0" name="Rounded Rectangle 39"/>
          <p:cNvSpPr/>
          <p:nvPr/>
        </p:nvSpPr>
        <p:spPr>
          <a:xfrm>
            <a:off x="6388885" y="2935228"/>
            <a:ext cx="5692279" cy="868391"/>
          </a:xfrm>
          <a:prstGeom prst="roundRect">
            <a:avLst/>
          </a:prstGeom>
          <a:solidFill>
            <a:srgbClr val="F0F5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0" bIns="0" rtlCol="0" anchor="ctr"/>
          <a:lstStyle/>
          <a:p>
            <a:endParaRPr lang="en-US" altLang="zh-CN" sz="1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文生图：</a:t>
            </a:r>
            <a:r>
              <a:rPr lang="zh-CN" altLang="en-US" sz="10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文本通过自回归模型生成 </a:t>
            </a:r>
            <a:r>
              <a:rPr lang="en-US" altLang="zh-CN" sz="1000" b="1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Semantic-VQ </a:t>
            </a:r>
            <a:r>
              <a:rPr lang="zh-CN" altLang="en-US" sz="1000" b="1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标记序列 </a:t>
            </a:r>
            <a:r>
              <a:rPr lang="zh-CN" altLang="en-US" sz="10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→ 扩散解码器条件生成图像</a:t>
            </a:r>
          </a:p>
          <a:p>
            <a:pPr algn="l"/>
            <a:endParaRPr lang="en-US" sz="1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0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图生图</a:t>
            </a:r>
            <a:r>
              <a:rPr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0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参考图像经 </a:t>
            </a:r>
            <a:r>
              <a:rPr lang="en-US" altLang="zh-CN" sz="10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Semantic-VQ </a:t>
            </a:r>
            <a:r>
              <a:rPr lang="zh-CN" altLang="en-US" sz="10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标记化 </a:t>
            </a:r>
            <a:r>
              <a:rPr lang="en-US" altLang="zh-CN" sz="10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+ VAE </a:t>
            </a:r>
            <a:r>
              <a:rPr lang="zh-CN" altLang="en-US" sz="10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编码得到潜变量 → 与文本指令共同条件化生成</a:t>
            </a:r>
            <a:r>
              <a:rPr lang="en-US" altLang="zh-CN" sz="1000" b="1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Semantic-VQ </a:t>
            </a:r>
            <a:r>
              <a:rPr lang="zh-CN" altLang="en-US" sz="1000" b="1" dirty="0">
                <a:solidFill>
                  <a:srgbClr val="FF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标记序列</a:t>
            </a:r>
            <a:r>
              <a:rPr lang="zh-CN" altLang="en-US" sz="1000" b="1" dirty="0"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 → 扩散解码器生成目标图像</a:t>
            </a:r>
          </a:p>
          <a:p>
            <a:pPr algn="l"/>
            <a:endParaRPr sz="1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6472197" y="3226621"/>
            <a:ext cx="109728" cy="109728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3" name="TextBox 42"/>
          <p:cNvSpPr txBox="1"/>
          <p:nvPr/>
        </p:nvSpPr>
        <p:spPr>
          <a:xfrm>
            <a:off x="489204" y="6583680"/>
            <a:ext cx="1109167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5A6577"/>
                </a:solidFill>
                <a:latin typeface="Microsoft YaHei"/>
              </a:rPr>
              <a:t>GLM-Image 架构：条件输入 → 自回归生成 Semantic-VQ → 扩散解码器生成图像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73152" cy="384048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Microsoft YaHei"/>
              </a:rPr>
              <a:t>自回归+扩散模型小结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8686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A6577"/>
                </a:solidFill>
                <a:latin typeface="Microsoft YaHei"/>
              </a:rPr>
              <a:t>Part 2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1091672" cy="9525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096" y="13716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7B1FA2"/>
                </a:solidFill>
                <a:latin typeface="Microsoft YaHei"/>
              </a:rPr>
              <a:t>架构共性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149892"/>
            <a:ext cx="10515600" cy="2980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b="0" dirty="0">
                <a:solidFill>
                  <a:srgbClr val="1F2A44"/>
                </a:solidFill>
                <a:latin typeface="Microsoft YaHei"/>
              </a:rPr>
              <a:t>• 「</a:t>
            </a:r>
            <a:r>
              <a:rPr b="0" dirty="0" err="1">
                <a:solidFill>
                  <a:srgbClr val="1F2A44"/>
                </a:solidFill>
                <a:latin typeface="Microsoft YaHei"/>
              </a:rPr>
              <a:t>分工协作</a:t>
            </a:r>
            <a:r>
              <a:rPr b="0" dirty="0">
                <a:solidFill>
                  <a:srgbClr val="1F2A44"/>
                </a:solidFill>
                <a:latin typeface="Microsoft YaHei"/>
              </a:rPr>
              <a:t>」：</a:t>
            </a:r>
            <a:r>
              <a:rPr b="0" dirty="0" err="1">
                <a:solidFill>
                  <a:srgbClr val="1F2A44"/>
                </a:solidFill>
                <a:latin typeface="Microsoft YaHei"/>
              </a:rPr>
              <a:t>自回归负责语义</a:t>
            </a:r>
            <a:r>
              <a:rPr b="0" dirty="0">
                <a:solidFill>
                  <a:srgbClr val="1F2A44"/>
                </a:solidFill>
                <a:latin typeface="Microsoft YaHei"/>
              </a:rPr>
              <a:t>/</a:t>
            </a:r>
            <a:r>
              <a:rPr b="0" dirty="0" err="1">
                <a:solidFill>
                  <a:srgbClr val="1F2A44"/>
                </a:solidFill>
                <a:latin typeface="Microsoft YaHei"/>
              </a:rPr>
              <a:t>布局</a:t>
            </a:r>
            <a:r>
              <a:rPr b="0" dirty="0">
                <a:solidFill>
                  <a:srgbClr val="1F2A44"/>
                </a:solidFill>
                <a:latin typeface="Microsoft YaHei"/>
              </a:rPr>
              <a:t>/</a:t>
            </a:r>
            <a:r>
              <a:rPr b="0" dirty="0" err="1">
                <a:solidFill>
                  <a:srgbClr val="1F2A44"/>
                </a:solidFill>
                <a:latin typeface="Microsoft YaHei"/>
              </a:rPr>
              <a:t>全局结构，扩散负责高频细节</a:t>
            </a:r>
            <a:r>
              <a:rPr b="0" dirty="0">
                <a:solidFill>
                  <a:srgbClr val="1F2A44"/>
                </a:solidFill>
                <a:latin typeface="Microsoft YaHei"/>
              </a:rPr>
              <a:t>/</a:t>
            </a:r>
            <a:r>
              <a:rPr b="0" dirty="0" err="1">
                <a:solidFill>
                  <a:srgbClr val="1F2A44"/>
                </a:solidFill>
                <a:latin typeface="Microsoft YaHei"/>
              </a:rPr>
              <a:t>画质还原</a:t>
            </a:r>
            <a:endParaRPr lang="en-US" b="0" dirty="0">
              <a:solidFill>
                <a:srgbClr val="1F2A44"/>
              </a:solidFill>
              <a:latin typeface="Microsoft YaHei"/>
            </a:endParaRPr>
          </a:p>
          <a:p>
            <a:pPr>
              <a:lnSpc>
                <a:spcPct val="140000"/>
              </a:lnSpc>
              <a:spcAft>
                <a:spcPts val="400"/>
              </a:spcAft>
            </a:pPr>
            <a:endParaRPr b="0" dirty="0">
              <a:solidFill>
                <a:srgbClr val="1F2A44"/>
              </a:solidFill>
              <a:latin typeface="Microsoft YaHei"/>
            </a:endParaRP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b="0" dirty="0">
                <a:solidFill>
                  <a:srgbClr val="1F2A44"/>
                </a:solidFill>
                <a:latin typeface="Microsoft YaHei"/>
              </a:rPr>
              <a:t>• HunyuanImage-3：MoE </a:t>
            </a:r>
            <a:r>
              <a:rPr b="0" dirty="0" err="1">
                <a:solidFill>
                  <a:srgbClr val="1F2A44"/>
                </a:solidFill>
                <a:latin typeface="Microsoft YaHei"/>
              </a:rPr>
              <a:t>大模型统一序列，自回归+扩散损失联合优化，后训练强化学习丰富</a:t>
            </a:r>
            <a:endParaRPr b="0" dirty="0">
              <a:solidFill>
                <a:srgbClr val="1F2A44"/>
              </a:solidFill>
              <a:latin typeface="Microsoft YaHei"/>
            </a:endParaRP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b="0" dirty="0">
                <a:solidFill>
                  <a:srgbClr val="1F2A44"/>
                </a:solidFill>
                <a:latin typeface="Microsoft YaHei"/>
              </a:rPr>
              <a:t>• SenseNova-U1：最激进——</a:t>
            </a:r>
            <a:r>
              <a:rPr b="0" dirty="0" err="1">
                <a:solidFill>
                  <a:srgbClr val="1F2A44"/>
                </a:solidFill>
                <a:latin typeface="Microsoft YaHei"/>
              </a:rPr>
              <a:t>完全抛弃</a:t>
            </a:r>
            <a:r>
              <a:rPr b="0" dirty="0">
                <a:solidFill>
                  <a:srgbClr val="1F2A44"/>
                </a:solidFill>
                <a:latin typeface="Microsoft YaHei"/>
              </a:rPr>
              <a:t> </a:t>
            </a:r>
            <a:r>
              <a:rPr b="0" dirty="0" err="1">
                <a:solidFill>
                  <a:srgbClr val="1F2A44"/>
                </a:solidFill>
                <a:latin typeface="Microsoft YaHei"/>
              </a:rPr>
              <a:t>VAE，原生像素直接处理，卷积+MLP替代编解码</a:t>
            </a:r>
            <a:endParaRPr b="0" dirty="0">
              <a:solidFill>
                <a:srgbClr val="1F2A44"/>
              </a:solidFill>
              <a:latin typeface="Microsoft YaHei"/>
            </a:endParaRP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b="0" dirty="0">
                <a:solidFill>
                  <a:srgbClr val="1F2A44"/>
                </a:solidFill>
                <a:latin typeface="Microsoft YaHei"/>
              </a:rPr>
              <a:t>• </a:t>
            </a:r>
            <a:r>
              <a:rPr b="0" dirty="0" err="1">
                <a:solidFill>
                  <a:srgbClr val="1F2A44"/>
                </a:solidFill>
                <a:latin typeface="Microsoft YaHei"/>
              </a:rPr>
              <a:t>GLM-Image：Semantic-VQ</a:t>
            </a:r>
            <a:r>
              <a:rPr b="0" dirty="0">
                <a:solidFill>
                  <a:srgbClr val="1F2A44"/>
                </a:solidFill>
                <a:latin typeface="Microsoft YaHei"/>
              </a:rPr>
              <a:t> </a:t>
            </a:r>
            <a:r>
              <a:rPr b="0" dirty="0" err="1">
                <a:solidFill>
                  <a:srgbClr val="1F2A44"/>
                </a:solidFill>
                <a:latin typeface="Microsoft YaHei"/>
              </a:rPr>
              <a:t>语义标记作为桥梁，自回归与扩散顺序执行、功能解耦</a:t>
            </a:r>
            <a:endParaRPr b="0" dirty="0">
              <a:solidFill>
                <a:srgbClr val="1F2A44"/>
              </a:solidFill>
              <a:latin typeface="Microsoft YaHei"/>
            </a:endParaRPr>
          </a:p>
          <a:p>
            <a:pPr>
              <a:lnSpc>
                <a:spcPct val="140000"/>
              </a:lnSpc>
              <a:spcAft>
                <a:spcPts val="400"/>
              </a:spcAft>
            </a:pPr>
            <a:endParaRPr lang="en-US" b="0" dirty="0">
              <a:solidFill>
                <a:srgbClr val="1F2A44"/>
              </a:solidFill>
              <a:latin typeface="Microsoft YaHei"/>
            </a:endParaRP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b="0" dirty="0">
                <a:solidFill>
                  <a:srgbClr val="1F2A44"/>
                </a:solidFill>
                <a:latin typeface="Microsoft YaHei"/>
              </a:rPr>
              <a:t>• </a:t>
            </a:r>
            <a:r>
              <a:rPr b="0" dirty="0" err="1">
                <a:solidFill>
                  <a:srgbClr val="1F2A44"/>
                </a:solidFill>
                <a:latin typeface="Microsoft YaHei"/>
              </a:rPr>
              <a:t>共同点：利用</a:t>
            </a:r>
            <a:r>
              <a:rPr b="0" dirty="0">
                <a:solidFill>
                  <a:srgbClr val="1F2A44"/>
                </a:solidFill>
                <a:latin typeface="Microsoft YaHei"/>
              </a:rPr>
              <a:t> LLM </a:t>
            </a:r>
            <a:r>
              <a:rPr b="0" dirty="0" err="1">
                <a:solidFill>
                  <a:srgbClr val="1F2A44"/>
                </a:solidFill>
                <a:latin typeface="Microsoft YaHei"/>
              </a:rPr>
              <a:t>的语义理解能力保证全局准确性，扩散补足生成质量</a:t>
            </a:r>
            <a:endParaRPr b="0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5A6577"/>
                </a:solidFill>
                <a:latin typeface="Microsoft YaHe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FDCFF"/>
                </a:solidFill>
                <a:latin typeface="Microsoft YaHei"/>
              </a:rPr>
              <a:t>PART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37160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</a:rPr>
              <a:t>纯自回归模型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FDCFF"/>
                </a:solidFill>
                <a:latin typeface="Microsoft YaHei"/>
              </a:rPr>
              <a:t>Pure Autoregressive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ECF2FF"/>
                </a:solidFill>
                <a:latin typeface="Microsoft YaHei"/>
              </a:rPr>
              <a:t>GPT-Image · Nano Banana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73152" cy="384048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Microsoft YaHei"/>
              </a:rPr>
              <a:t>GPT-Image / Nano Banana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47311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 err="1">
                <a:solidFill>
                  <a:srgbClr val="5A6577"/>
                </a:solidFill>
                <a:latin typeface="Microsoft YaHei"/>
              </a:rPr>
              <a:t>继承</a:t>
            </a:r>
            <a:r>
              <a:rPr sz="1200" b="0" dirty="0">
                <a:solidFill>
                  <a:srgbClr val="5A6577"/>
                </a:solidFill>
                <a:latin typeface="Microsoft YaHei"/>
              </a:rPr>
              <a:t> LLM </a:t>
            </a:r>
            <a:r>
              <a:rPr sz="1200" b="0" dirty="0" err="1">
                <a:solidFill>
                  <a:srgbClr val="5A6577"/>
                </a:solidFill>
                <a:latin typeface="Microsoft YaHei"/>
              </a:rPr>
              <a:t>的逻辑推理与排版能力</a:t>
            </a:r>
            <a:endParaRPr sz="1200" b="0" dirty="0">
              <a:solidFill>
                <a:srgbClr val="5A6577"/>
              </a:solidFill>
              <a:latin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44179" y="1842839"/>
            <a:ext cx="11091672" cy="9525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6650" y="1568519"/>
            <a:ext cx="1359129" cy="310896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纯自回归生图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179" y="2098871"/>
            <a:ext cx="548640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0" rIns="137160" rtlCol="0" anchor="ctr"/>
          <a:lstStyle/>
          <a:p>
            <a:pPr algn="ctr"/>
            <a:r>
              <a:rPr sz="1100">
                <a:solidFill>
                  <a:srgbClr val="1F2A44"/>
                </a:solidFill>
                <a:latin typeface="Microsoft YaHei"/>
              </a:rPr>
              <a:t>生图模型继承 LLM 强大的逻辑推理、长文本对齐、精准排版布局能力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179" y="2098871"/>
            <a:ext cx="1371600" cy="749808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4572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核心思想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179" y="2921831"/>
            <a:ext cx="548640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0" rIns="137160" rtlCol="0" anchor="ctr"/>
          <a:lstStyle/>
          <a:p>
            <a:pPr algn="ctr"/>
            <a:r>
              <a:rPr sz="1100">
                <a:solidFill>
                  <a:srgbClr val="1F2A44"/>
                </a:solidFill>
                <a:latin typeface="Microsoft YaHei"/>
              </a:rPr>
              <a:t>纯自回归 next-token prediction，图像 token 化后纳入语言建模框架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4179" y="2921831"/>
            <a:ext cx="1371600" cy="749808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4572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技术路线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179" y="3744791"/>
            <a:ext cx="548640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0" rIns="137160" rtlCol="0" anchor="ctr"/>
          <a:lstStyle/>
          <a:p>
            <a:pPr algn="ctr"/>
            <a:r>
              <a:rPr sz="1100">
                <a:solidFill>
                  <a:srgbClr val="1F2A44"/>
                </a:solidFill>
                <a:latin typeface="Microsoft YaHei"/>
              </a:rPr>
              <a:t>需要非常强大的基座模型作为支撑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179" y="3744791"/>
            <a:ext cx="1371600" cy="749808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4572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关键依赖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179" y="4567751"/>
            <a:ext cx="548640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0" rIns="137160" rtlCol="0" anchor="ctr"/>
          <a:lstStyle/>
          <a:p>
            <a:pPr algn="ctr"/>
            <a:r>
              <a:rPr sz="1100">
                <a:solidFill>
                  <a:srgbClr val="1F2A44"/>
                </a:solidFill>
                <a:latin typeface="Microsoft YaHei"/>
              </a:rPr>
              <a:t>GPT-Image · Nano Banana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179" y="4567751"/>
            <a:ext cx="1371600" cy="749808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4572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代表模型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3239" y="1733111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8710A"/>
                </a:solidFill>
                <a:latin typeface="Microsoft YaHei"/>
              </a:rPr>
              <a:t>核心要点 / Key Highlights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3239" y="2144591"/>
            <a:ext cx="5285232" cy="612648"/>
          </a:xfrm>
          <a:prstGeom prst="roundRect">
            <a:avLst/>
          </a:prstGeom>
          <a:solidFill>
            <a:srgbClr val="F0F5FF"/>
          </a:solidFill>
          <a:ln w="635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rIns="137160" rtlCol="0" anchor="ctr"/>
          <a:lstStyle/>
          <a:p>
            <a:pPr algn="ctr"/>
            <a:r>
              <a:rPr sz="1100">
                <a:solidFill>
                  <a:srgbClr val="1F2A44"/>
                </a:solidFill>
                <a:latin typeface="Microsoft YaHei"/>
              </a:rPr>
              <a:t>将图像生成统一为「下一个token预测」范式</a:t>
            </a:r>
          </a:p>
        </p:txBody>
      </p:sp>
      <p:sp>
        <p:nvSpPr>
          <p:cNvPr id="17" name="Oval 16"/>
          <p:cNvSpPr/>
          <p:nvPr/>
        </p:nvSpPr>
        <p:spPr>
          <a:xfrm>
            <a:off x="6340399" y="2272607"/>
            <a:ext cx="128016" cy="128016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03239" y="2866967"/>
            <a:ext cx="5285232" cy="612648"/>
          </a:xfrm>
          <a:prstGeom prst="roundRect">
            <a:avLst/>
          </a:prstGeom>
          <a:solidFill>
            <a:srgbClr val="F0F5FF"/>
          </a:solidFill>
          <a:ln w="635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rIns="137160" rtlCol="0" anchor="ctr"/>
          <a:lstStyle/>
          <a:p>
            <a:pPr algn="ctr"/>
            <a:r>
              <a:rPr sz="1100">
                <a:solidFill>
                  <a:srgbClr val="1F2A44"/>
                </a:solidFill>
                <a:latin typeface="Microsoft YaHei"/>
              </a:rPr>
              <a:t>复用 LLM 已有的推理、对齐、排版能力</a:t>
            </a:r>
          </a:p>
        </p:txBody>
      </p:sp>
      <p:sp>
        <p:nvSpPr>
          <p:cNvPr id="19" name="Oval 18"/>
          <p:cNvSpPr/>
          <p:nvPr/>
        </p:nvSpPr>
        <p:spPr>
          <a:xfrm>
            <a:off x="6340399" y="2994983"/>
            <a:ext cx="128016" cy="128016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03239" y="3589343"/>
            <a:ext cx="5285232" cy="612648"/>
          </a:xfrm>
          <a:prstGeom prst="roundRect">
            <a:avLst/>
          </a:prstGeom>
          <a:solidFill>
            <a:srgbClr val="F0F5FF"/>
          </a:solidFill>
          <a:ln w="635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rIns="137160" rtlCol="0" anchor="ctr"/>
          <a:lstStyle/>
          <a:p>
            <a:pPr algn="ctr"/>
            <a:r>
              <a:rPr sz="1100">
                <a:solidFill>
                  <a:srgbClr val="1F2A44"/>
                </a:solidFill>
                <a:latin typeface="Microsoft YaHei"/>
              </a:rPr>
              <a:t>优势：语义理解强、指令遵循好、排版精准</a:t>
            </a:r>
          </a:p>
        </p:txBody>
      </p:sp>
      <p:sp>
        <p:nvSpPr>
          <p:cNvPr id="21" name="Oval 20"/>
          <p:cNvSpPr/>
          <p:nvPr/>
        </p:nvSpPr>
        <p:spPr>
          <a:xfrm>
            <a:off x="6340399" y="3717359"/>
            <a:ext cx="128016" cy="128016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203239" y="4311719"/>
            <a:ext cx="5285232" cy="612648"/>
          </a:xfrm>
          <a:prstGeom prst="roundRect">
            <a:avLst/>
          </a:prstGeom>
          <a:solidFill>
            <a:srgbClr val="F0F5FF"/>
          </a:solidFill>
          <a:ln w="635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rIns="137160" rtlCol="0" anchor="ctr"/>
          <a:lstStyle/>
          <a:p>
            <a:pPr algn="ctr"/>
            <a:r>
              <a:rPr sz="1100">
                <a:solidFill>
                  <a:srgbClr val="1F2A44"/>
                </a:solidFill>
                <a:latin typeface="Microsoft YaHei"/>
              </a:rPr>
              <a:t>挑战：对基座模型规模与能力要求极高</a:t>
            </a:r>
          </a:p>
        </p:txBody>
      </p:sp>
      <p:sp>
        <p:nvSpPr>
          <p:cNvPr id="23" name="Oval 22"/>
          <p:cNvSpPr/>
          <p:nvPr/>
        </p:nvSpPr>
        <p:spPr>
          <a:xfrm>
            <a:off x="6340399" y="4439735"/>
            <a:ext cx="128016" cy="128016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203239" y="5034095"/>
            <a:ext cx="5285232" cy="612648"/>
          </a:xfrm>
          <a:prstGeom prst="roundRect">
            <a:avLst/>
          </a:prstGeom>
          <a:solidFill>
            <a:srgbClr val="F0F5FF"/>
          </a:solidFill>
          <a:ln w="635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rIns="137160" rtlCol="0" anchor="ctr"/>
          <a:lstStyle/>
          <a:p>
            <a:pPr algn="ctr"/>
            <a:r>
              <a:rPr sz="1100">
                <a:solidFill>
                  <a:srgbClr val="1F2A44"/>
                </a:solidFill>
                <a:latin typeface="Microsoft YaHei"/>
              </a:rPr>
              <a:t>代表了大模型统一一切的发展方向</a:t>
            </a:r>
          </a:p>
        </p:txBody>
      </p:sp>
      <p:sp>
        <p:nvSpPr>
          <p:cNvPr id="25" name="Oval 24"/>
          <p:cNvSpPr/>
          <p:nvPr/>
        </p:nvSpPr>
        <p:spPr>
          <a:xfrm>
            <a:off x="6340399" y="5162111"/>
            <a:ext cx="128016" cy="128016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5A6577"/>
                </a:solidFill>
                <a:latin typeface="Microsoft YaHe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73152" cy="38404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Microsoft YaHei"/>
              </a:rPr>
              <a:t>趋势一：架构演进路线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8686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A6577"/>
                </a:solidFill>
                <a:latin typeface="Microsoft YaHei"/>
              </a:rPr>
              <a:t>Trend 1 · Architecture 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1091672" cy="9525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20440" cy="3840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520440" cy="59436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双流架构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31089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Microsoft YaHei"/>
              </a:rPr>
              <a:t>文本与图像独立分支处理
仅通过交叉注意力稀疏交互
参数复用率低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720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A73E8"/>
                </a:solidFill>
                <a:latin typeface="Microsoft YaHei"/>
              </a:rPr>
              <a:t>代表：SD / FLUX.1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60520" y="3200400"/>
            <a:ext cx="320040" cy="320040"/>
          </a:xfrm>
          <a:prstGeom prst="rightArrow">
            <a:avLst/>
          </a:prstGeom>
          <a:solidFill>
            <a:srgbClr val="5A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53127" y="1554480"/>
            <a:ext cx="3520440" cy="3840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53127" y="1554480"/>
            <a:ext cx="3520440" cy="59436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单流 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7" y="2331720"/>
            <a:ext cx="31089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Microsoft YaHei"/>
              </a:rPr>
              <a:t>文本/图像/语义Tokens
序列维度直接拼接
统一注意力交互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45720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E8E3E"/>
                </a:solidFill>
                <a:latin typeface="Microsoft YaHei"/>
              </a:rPr>
              <a:t>代表：Z-Image / Ideogram 4.0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7614" y="1554480"/>
            <a:ext cx="3520440" cy="3840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357614" y="1554480"/>
            <a:ext cx="3520440" cy="59436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自回归统一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86214" y="2331720"/>
            <a:ext cx="31089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Microsoft YaHei"/>
              </a:rPr>
              <a:t>LLM统一理解与生成
next-token预测范式
语义+细节分工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86214" y="45720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8710A"/>
                </a:solidFill>
                <a:latin typeface="Microsoft YaHei"/>
              </a:rPr>
              <a:t>代表：GPT-Image / Nano Banana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5A6577"/>
                </a:solidFill>
                <a:latin typeface="Microsoft YaHei"/>
              </a:rPr>
              <a:t>18 / 19</a:t>
            </a:r>
          </a:p>
        </p:txBody>
      </p:sp>
      <p:sp>
        <p:nvSpPr>
          <p:cNvPr id="21" name="Right Arrow 9">
            <a:extLst>
              <a:ext uri="{FF2B5EF4-FFF2-40B4-BE49-F238E27FC236}">
                <a16:creationId xmlns:a16="http://schemas.microsoft.com/office/drawing/2014/main" id="{3513CCA2-1884-C8AD-DAAF-F8D28685C6D2}"/>
              </a:ext>
            </a:extLst>
          </p:cNvPr>
          <p:cNvSpPr/>
          <p:nvPr/>
        </p:nvSpPr>
        <p:spPr>
          <a:xfrm>
            <a:off x="8014714" y="3268980"/>
            <a:ext cx="320040" cy="320040"/>
          </a:xfrm>
          <a:prstGeom prst="rightArrow">
            <a:avLst/>
          </a:prstGeom>
          <a:solidFill>
            <a:srgbClr val="5A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73152" cy="38404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Microsoft YaHei"/>
              </a:rPr>
              <a:t>趋势二：关键技术趋势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8686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A6577"/>
                </a:solidFill>
                <a:latin typeface="Microsoft YaHei"/>
              </a:rPr>
              <a:t>Trend 2 · Key Technology Trends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1091672" cy="9525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5760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31520" y="1664208"/>
            <a:ext cx="146304" cy="14630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Microsoft YaHei"/>
              </a:rPr>
              <a:t>编码器演进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29968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A73E8"/>
                </a:solidFill>
                <a:latin typeface="Microsoft YaHei"/>
              </a:rPr>
              <a:t>CLIP/T5 → 视觉语言大模型（Qwen3-VL等）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A6577"/>
                </a:solidFill>
                <a:latin typeface="Microsoft YaHei"/>
              </a:rPr>
              <a:t>从专用编码器走向多模态大模型统一编码，提升语义理解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7" y="1463040"/>
            <a:ext cx="365760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636007" y="1664208"/>
            <a:ext cx="146304" cy="146304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64607" y="16002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Microsoft YaHei"/>
              </a:rPr>
              <a:t>VAE 演进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2029968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7B1FA2"/>
                </a:solidFill>
                <a:latin typeface="Microsoft YaHei"/>
              </a:rPr>
              <a:t>标准VAE → 大维度VAE → Semantic-VQ → 无VAE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6974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A6577"/>
                </a:solidFill>
                <a:latin typeface="Microsoft YaHei"/>
              </a:rPr>
              <a:t>从压缩潜空间到语义标记化，再到原生像素直接处理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7614" y="1463040"/>
            <a:ext cx="365760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540494" y="1664208"/>
            <a:ext cx="146304" cy="146304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69094" y="16002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Microsoft YaHei"/>
              </a:rPr>
              <a:t>任务统一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4" y="2029968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E8E3E"/>
                </a:solidFill>
                <a:latin typeface="Microsoft YaHei"/>
              </a:rPr>
              <a:t>单一生成 → 生成+编辑+理解多任务统一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4" y="26974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A6577"/>
                </a:solidFill>
                <a:latin typeface="Microsoft YaHei"/>
              </a:rPr>
              <a:t>单一架构覆盖文生图、图像编辑、多图合成、视觉理解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31920"/>
            <a:ext cx="365760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31520" y="4133088"/>
            <a:ext cx="146304" cy="146304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06908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Microsoft YaHei"/>
              </a:rPr>
              <a:t>训练范式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498848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8710A"/>
                </a:solidFill>
                <a:latin typeface="Microsoft YaHei"/>
              </a:rPr>
              <a:t>单一扩散损失 → 多阶段联合优化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1663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A6577"/>
                </a:solidFill>
                <a:latin typeface="Microsoft YaHei"/>
              </a:rPr>
              <a:t>扩散/自回归损失 + SFT + DPO + 强化学习(MixGRPO等)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3127" y="3931920"/>
            <a:ext cx="365760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636007" y="4133088"/>
            <a:ext cx="146304" cy="146304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64607" y="406908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Microsoft YaHei"/>
              </a:rPr>
              <a:t>规模依赖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6007" y="4498848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8710A"/>
                </a:solidFill>
                <a:latin typeface="Microsoft YaHei"/>
              </a:rPr>
              <a:t>专用模型 → 强基座模型驱动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51663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A6577"/>
                </a:solidFill>
                <a:latin typeface="Microsoft YaHei"/>
              </a:rPr>
              <a:t>MoE&gt;80B、LLM 9B+，对基座规模与能力要求日益增高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57614" y="3931920"/>
            <a:ext cx="365760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540494" y="4133088"/>
            <a:ext cx="146304" cy="14630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69094" y="406908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Microsoft YaHei"/>
              </a:rPr>
              <a:t>信息融合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4" y="4498848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A73E8"/>
                </a:solidFill>
                <a:latin typeface="Microsoft YaHei"/>
              </a:rPr>
              <a:t>交叉注意力 → 序列拼接单流交互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4" y="51663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A6577"/>
                </a:solidFill>
                <a:latin typeface="Microsoft YaHei"/>
              </a:rPr>
              <a:t>减少信息交叉损失，最大化跨模态对齐与参数复用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5A6577"/>
                </a:solidFill>
                <a:latin typeface="Microsoft YaHei"/>
              </a:rPr>
              <a:t>19 /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8EC7FF"/>
                </a:solidFill>
                <a:latin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</a:rPr>
              <a:t>图像生成模型的统一化演进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11091672" cy="914400"/>
          </a:xfrm>
          <a:prstGeom prst="roundRect">
            <a:avLst/>
          </a:prstGeom>
          <a:solidFill>
            <a:srgbClr val="F7F8FA"/>
          </a:solidFill>
          <a:ln w="635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91440" cy="9144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30428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A73E8"/>
                </a:solidFill>
                <a:latin typeface="Microsoft YaHei"/>
              </a:rPr>
              <a:t>编码统一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Microsoft YaHei"/>
              </a:rPr>
              <a:t>从 CLIP/T5 专用编码器 → Qwen3-VL 等多模态大模型统一编码，语义理解能力大幅提升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18688"/>
            <a:ext cx="11091672" cy="914400"/>
          </a:xfrm>
          <a:prstGeom prst="roundRect">
            <a:avLst/>
          </a:prstGeom>
          <a:solidFill>
            <a:srgbClr val="F7F8FA"/>
          </a:solidFill>
          <a:ln w="635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3218688"/>
            <a:ext cx="91440" cy="91440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32841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E8E3E"/>
                </a:solidFill>
                <a:latin typeface="Microsoft YaHei"/>
              </a:rPr>
              <a:t>架构收敛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75888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Microsoft YaHei"/>
              </a:rPr>
              <a:t>从双流交叉注意力 → 单流序列拼接；信息融合更直接，跨模态对齐更充分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42816"/>
            <a:ext cx="11091672" cy="914400"/>
          </a:xfrm>
          <a:prstGeom prst="roundRect">
            <a:avLst/>
          </a:prstGeom>
          <a:solidFill>
            <a:srgbClr val="F7F8FA"/>
          </a:solidFill>
          <a:ln w="635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242816"/>
            <a:ext cx="91440" cy="914400"/>
          </a:xfrm>
          <a:prstGeom prst="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4352544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7B1FA2"/>
                </a:solidFill>
                <a:latin typeface="Microsoft YaHei"/>
              </a:rPr>
              <a:t>范式融合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001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 err="1">
                <a:solidFill>
                  <a:srgbClr val="1F2A44"/>
                </a:solidFill>
                <a:latin typeface="Microsoft YaHei"/>
              </a:rPr>
              <a:t>自回归负责全局语义，扩散负责高频细节；纯自回归则是</a:t>
            </a:r>
            <a:r>
              <a:rPr sz="1200" b="0" dirty="0">
                <a:solidFill>
                  <a:srgbClr val="1F2A44"/>
                </a:solidFill>
                <a:latin typeface="Microsoft YaHei"/>
              </a:rPr>
              <a:t> LLM </a:t>
            </a:r>
            <a:r>
              <a:rPr sz="1200" b="0" dirty="0" err="1">
                <a:solidFill>
                  <a:srgbClr val="1F2A44"/>
                </a:solidFill>
                <a:latin typeface="Microsoft YaHei"/>
              </a:rPr>
              <a:t>统一一切的终极方向</a:t>
            </a:r>
            <a:endParaRPr sz="1200" b="0" dirty="0">
              <a:solidFill>
                <a:srgbClr val="1F2A44"/>
              </a:solidFill>
              <a:latin typeface="Microsoft YaHe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48640" y="5266944"/>
            <a:ext cx="11091672" cy="914400"/>
          </a:xfrm>
          <a:prstGeom prst="roundRect">
            <a:avLst/>
          </a:prstGeom>
          <a:solidFill>
            <a:srgbClr val="F7F8FA"/>
          </a:solidFill>
          <a:ln w="635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5266944"/>
            <a:ext cx="91440" cy="91440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376672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8710A"/>
                </a:solidFill>
                <a:latin typeface="Microsoft YaHei"/>
              </a:rPr>
              <a:t>规模驱动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24144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Microsoft YaHei"/>
              </a:rPr>
              <a:t>模型规模从专用百兆级 → MoE 80B+，强基座成为高质量生成的核心依赖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dirty="0">
                <a:solidFill>
                  <a:srgbClr val="5A6577"/>
                </a:solidFill>
                <a:latin typeface="Microsoft YaHe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1205</TotalTime>
  <Words>1387</Words>
  <Application>Microsoft Office PowerPoint</Application>
  <PresentationFormat>宽屏</PresentationFormat>
  <Paragraphs>276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7" baseType="lpstr">
      <vt:lpstr>-apple-system</vt:lpstr>
      <vt:lpstr>winfonts</vt:lpstr>
      <vt:lpstr>Microsoft YaHei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竺星回</cp:lastModifiedBy>
  <cp:revision>22</cp:revision>
  <dcterms:created xsi:type="dcterms:W3CDTF">2013-01-27T09:14:16Z</dcterms:created>
  <dcterms:modified xsi:type="dcterms:W3CDTF">2026-07-14T07:44:26Z</dcterms:modified>
  <cp:category/>
</cp:coreProperties>
</file>